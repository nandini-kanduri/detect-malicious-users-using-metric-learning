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70" r:id="rId6"/>
    <p:sldId id="260" r:id="rId7"/>
    <p:sldId id="261" r:id="rId8"/>
    <p:sldId id="269" r:id="rId9"/>
    <p:sldId id="262" r:id="rId10"/>
    <p:sldId id="263" r:id="rId11"/>
    <p:sldId id="264" r:id="rId12"/>
    <p:sldId id="267" r:id="rId13"/>
    <p:sldId id="268" r:id="rId14"/>
    <p:sldId id="265" r:id="rId15"/>
    <p:sldId id="266" r:id="rId16"/>
  </p:sldIdLst>
  <p:sldSz cx="14630400" cy="8229600"/>
  <p:notesSz cx="8229600" cy="14630400"/>
  <p:embeddedFontLst>
    <p:embeddedFont>
      <p:font typeface="Inter" panose="020B0604020202020204" charset="0"/>
      <p:regular r:id="rId18"/>
    </p:embeddedFont>
    <p:embeddedFont>
      <p:font typeface="Petrona"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581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18628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presents a UML diagram outlining the key components of the system to detect malicious users in recommender systems.
The main classes are User, MMD (Malicious User Detection), RNN (Recurrent Neural Network), and Metric Learning.
For the User class, the key attributes are ID, Ratings, and Reviews, with methods to retrieve this information.
The MMD class handles the core malicious user detection functionality, with attributes like Sentiment Score, Malicious User Probability (MUP), and a Metric Matrix.
The RNN class represents a recurrent neural network, with attributes like Hidden States and Weights, and forward and backward propagation methods.
The Metric Learning class encapsulates the distance function and similarity measure used to cluster users based on their behavior.
This slide provides a high-level architectural overview of the key components involved in the malicious user detection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presents a UML diagram outlining the key components of the system to detect malicious users in recommender systems.
The main classes are User, MMD (Malicious User Detection), RNN (Recurrent Neural Network), and Metric Learning.
For the User class, the key attributes are ID, Ratings, and Reviews, with methods to retrieve this information.
The MMD class handles the core malicious user detection functionality, with attributes like Sentiment Score, Malicious User Probability (MUP), and a Metric Matrix.
The RNN class represents a recurrent neural network, with attributes like Hidden States and Weights, and forward and backward propagation methods.
The Metric Learning class encapsulates the distance function and similarity measure used to cluster users based on their behavior.
This slide provides a high-level architectural overview of the key components involved in the malicious user detection 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7955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94195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15174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275993"/>
            <a:ext cx="7415927" cy="3239929"/>
          </a:xfrm>
          <a:prstGeom prst="rect">
            <a:avLst/>
          </a:prstGeom>
          <a:noFill/>
          <a:ln/>
        </p:spPr>
        <p:txBody>
          <a:bodyPr wrap="square" lIns="0" tIns="0" rIns="0" bIns="0" rtlCol="0" anchor="t"/>
          <a:lstStyle/>
          <a:p>
            <a:pPr marL="0" indent="0">
              <a:lnSpc>
                <a:spcPts val="6350"/>
              </a:lnSpc>
              <a:buNone/>
            </a:pPr>
            <a:r>
              <a:rPr lang="en-US" sz="5400" b="1" dirty="0">
                <a:solidFill>
                  <a:srgbClr val="000000"/>
                </a:solidFill>
                <a:latin typeface="Petrona" pitchFamily="34" charset="0"/>
                <a:ea typeface="Petrona" pitchFamily="34" charset="-122"/>
                <a:cs typeface="Petrona" pitchFamily="34" charset="-120"/>
              </a:rPr>
              <a:t>Detect Professional Malicious User with Metric Learning in Recommender Systems</a:t>
            </a:r>
            <a:endParaRPr lang="en-US" sz="5400" dirty="0"/>
          </a:p>
        </p:txBody>
      </p:sp>
      <p:sp>
        <p:nvSpPr>
          <p:cNvPr id="4" name="Text 1"/>
          <p:cNvSpPr/>
          <p:nvPr/>
        </p:nvSpPr>
        <p:spPr>
          <a:xfrm>
            <a:off x="6350437" y="5514856"/>
            <a:ext cx="6480810" cy="809982"/>
          </a:xfrm>
          <a:prstGeom prst="rect">
            <a:avLst/>
          </a:prstGeom>
          <a:noFill/>
          <a:ln/>
        </p:spPr>
        <p:txBody>
          <a:bodyPr wrap="none" lIns="0" tIns="0" rIns="0" bIns="0" rtlCol="0" anchor="t"/>
          <a:lstStyle/>
          <a:p>
            <a:pPr marL="0" indent="0">
              <a:lnSpc>
                <a:spcPts val="6350"/>
              </a:lnSpc>
              <a:buNone/>
            </a:pPr>
            <a:endParaRPr lang="en-US" sz="5100" dirty="0"/>
          </a:p>
        </p:txBody>
      </p:sp>
      <p:sp>
        <p:nvSpPr>
          <p:cNvPr id="6" name="TextBox 5">
            <a:extLst>
              <a:ext uri="{FF2B5EF4-FFF2-40B4-BE49-F238E27FC236}">
                <a16:creationId xmlns:a16="http://schemas.microsoft.com/office/drawing/2014/main" id="{232D908E-5009-FB72-3028-0954E833E773}"/>
              </a:ext>
            </a:extLst>
          </p:cNvPr>
          <p:cNvSpPr txBox="1"/>
          <p:nvPr/>
        </p:nvSpPr>
        <p:spPr>
          <a:xfrm>
            <a:off x="6350437" y="5129740"/>
            <a:ext cx="1094980" cy="584775"/>
          </a:xfrm>
          <a:prstGeom prst="rect">
            <a:avLst/>
          </a:prstGeom>
          <a:noFill/>
        </p:spPr>
        <p:txBody>
          <a:bodyPr wrap="none" rtlCol="0">
            <a:spAutoFit/>
          </a:bodyPr>
          <a:lstStyle/>
          <a:p>
            <a:r>
              <a:rPr lang="en-US" sz="3200" b="1" dirty="0"/>
              <a:t>Team</a:t>
            </a:r>
            <a:endParaRPr lang="en-IN" sz="2400" b="1" dirty="0"/>
          </a:p>
        </p:txBody>
      </p:sp>
      <p:sp>
        <p:nvSpPr>
          <p:cNvPr id="7" name="TextBox 6">
            <a:extLst>
              <a:ext uri="{FF2B5EF4-FFF2-40B4-BE49-F238E27FC236}">
                <a16:creationId xmlns:a16="http://schemas.microsoft.com/office/drawing/2014/main" id="{F684657F-459B-10CC-C501-DC0E459D4FB4}"/>
              </a:ext>
            </a:extLst>
          </p:cNvPr>
          <p:cNvSpPr txBox="1"/>
          <p:nvPr/>
        </p:nvSpPr>
        <p:spPr>
          <a:xfrm>
            <a:off x="6350437" y="5895611"/>
            <a:ext cx="3199337" cy="923330"/>
          </a:xfrm>
          <a:prstGeom prst="rect">
            <a:avLst/>
          </a:prstGeom>
          <a:noFill/>
        </p:spPr>
        <p:txBody>
          <a:bodyPr wrap="none" rtlCol="0">
            <a:spAutoFit/>
          </a:bodyPr>
          <a:lstStyle/>
          <a:p>
            <a:r>
              <a:rPr lang="en-US" dirty="0"/>
              <a:t>B. Suman – 22R05A6602</a:t>
            </a:r>
          </a:p>
          <a:p>
            <a:r>
              <a:rPr lang="en-US" dirty="0"/>
              <a:t>D. Thanoj Sriman – 22R05A6604</a:t>
            </a:r>
          </a:p>
          <a:p>
            <a:r>
              <a:rPr lang="en-US" dirty="0"/>
              <a:t>K. Nandini – 22R05A6605</a:t>
            </a:r>
            <a:endParaRPr lang="en-IN" dirty="0"/>
          </a:p>
        </p:txBody>
      </p:sp>
      <p:sp>
        <p:nvSpPr>
          <p:cNvPr id="8" name="TextBox 7">
            <a:extLst>
              <a:ext uri="{FF2B5EF4-FFF2-40B4-BE49-F238E27FC236}">
                <a16:creationId xmlns:a16="http://schemas.microsoft.com/office/drawing/2014/main" id="{D44D9C33-3BE0-852A-6C0C-92C5BA3C6DA5}"/>
              </a:ext>
            </a:extLst>
          </p:cNvPr>
          <p:cNvSpPr txBox="1"/>
          <p:nvPr/>
        </p:nvSpPr>
        <p:spPr>
          <a:xfrm>
            <a:off x="11163100" y="5103012"/>
            <a:ext cx="1192955" cy="584775"/>
          </a:xfrm>
          <a:prstGeom prst="rect">
            <a:avLst/>
          </a:prstGeom>
          <a:noFill/>
        </p:spPr>
        <p:txBody>
          <a:bodyPr wrap="none" rtlCol="0">
            <a:spAutoFit/>
          </a:bodyPr>
          <a:lstStyle/>
          <a:p>
            <a:r>
              <a:rPr lang="en-US" sz="3200" b="1" dirty="0"/>
              <a:t>Guide</a:t>
            </a:r>
            <a:endParaRPr lang="en-IN" sz="2400" b="1" dirty="0"/>
          </a:p>
        </p:txBody>
      </p:sp>
      <p:sp>
        <p:nvSpPr>
          <p:cNvPr id="10" name="TextBox 9">
            <a:extLst>
              <a:ext uri="{FF2B5EF4-FFF2-40B4-BE49-F238E27FC236}">
                <a16:creationId xmlns:a16="http://schemas.microsoft.com/office/drawing/2014/main" id="{189CC6F2-C858-D237-3E2E-206E9700C68F}"/>
              </a:ext>
            </a:extLst>
          </p:cNvPr>
          <p:cNvSpPr txBox="1"/>
          <p:nvPr/>
        </p:nvSpPr>
        <p:spPr>
          <a:xfrm>
            <a:off x="11163100" y="5855490"/>
            <a:ext cx="2549288" cy="646331"/>
          </a:xfrm>
          <a:prstGeom prst="rect">
            <a:avLst/>
          </a:prstGeom>
          <a:noFill/>
        </p:spPr>
        <p:txBody>
          <a:bodyPr wrap="none" rtlCol="0">
            <a:spAutoFit/>
          </a:bodyPr>
          <a:lstStyle/>
          <a:p>
            <a:r>
              <a:rPr lang="en-IN" sz="1800" b="1" kern="100" dirty="0">
                <a:solidFill>
                  <a:srgbClr val="000000"/>
                </a:solidFill>
                <a:effectLst/>
                <a:latin typeface="Times New Roman" panose="02020603050405020304" pitchFamily="18" charset="0"/>
                <a:ea typeface="Times New Roman" panose="02020603050405020304" pitchFamily="18" charset="0"/>
              </a:rPr>
              <a:t>Mr. V. SHIVA KUMAR </a:t>
            </a:r>
          </a:p>
          <a:p>
            <a:endParaRPr lang="en-IN" dirty="0"/>
          </a:p>
        </p:txBody>
      </p:sp>
      <p:sp>
        <p:nvSpPr>
          <p:cNvPr id="11" name="TextBox 10">
            <a:extLst>
              <a:ext uri="{FF2B5EF4-FFF2-40B4-BE49-F238E27FC236}">
                <a16:creationId xmlns:a16="http://schemas.microsoft.com/office/drawing/2014/main" id="{032B0047-FA03-0745-91DD-B24F35794B4E}"/>
              </a:ext>
            </a:extLst>
          </p:cNvPr>
          <p:cNvSpPr txBox="1"/>
          <p:nvPr/>
        </p:nvSpPr>
        <p:spPr>
          <a:xfrm>
            <a:off x="11153995" y="6276890"/>
            <a:ext cx="2558393" cy="742063"/>
          </a:xfrm>
          <a:prstGeom prst="rect">
            <a:avLst/>
          </a:prstGeom>
          <a:noFill/>
        </p:spPr>
        <p:txBody>
          <a:bodyPr wrap="none" rtlCol="0">
            <a:spAutoFit/>
          </a:bodyPr>
          <a:lstStyle/>
          <a:p>
            <a:pPr marL="6350" marR="1270" indent="-6350" algn="just">
              <a:lnSpc>
                <a:spcPct val="107000"/>
              </a:lnSpc>
              <a:spcAft>
                <a:spcPts val="570"/>
              </a:spcAft>
            </a:pPr>
            <a:r>
              <a:rPr lang="en-IN" sz="1800" kern="100" dirty="0">
                <a:solidFill>
                  <a:srgbClr val="000000"/>
                </a:solidFill>
                <a:effectLst/>
                <a:latin typeface="Times New Roman" panose="02020603050405020304" pitchFamily="18" charset="0"/>
                <a:ea typeface="Times New Roman" panose="02020603050405020304" pitchFamily="18" charset="0"/>
              </a:rPr>
              <a:t>Assistant Professor </a:t>
            </a:r>
          </a:p>
          <a:p>
            <a:pPr marL="6350" marR="1270" indent="-6350" algn="just">
              <a:lnSpc>
                <a:spcPct val="107000"/>
              </a:lnSpc>
              <a:spcAft>
                <a:spcPts val="570"/>
              </a:spcAft>
            </a:pPr>
            <a:r>
              <a:rPr lang="en-IN" sz="1800" kern="100" dirty="0">
                <a:solidFill>
                  <a:srgbClr val="000000"/>
                </a:solidFill>
                <a:effectLst/>
                <a:latin typeface="Times New Roman" panose="02020603050405020304" pitchFamily="18" charset="0"/>
                <a:ea typeface="Times New Roman" panose="02020603050405020304" pitchFamily="18" charset="0"/>
              </a:rPr>
              <a:t>CSE(AIML) Department </a:t>
            </a:r>
          </a:p>
        </p:txBody>
      </p:sp>
      <p:pic>
        <p:nvPicPr>
          <p:cNvPr id="13" name="Picture 12">
            <a:extLst>
              <a:ext uri="{FF2B5EF4-FFF2-40B4-BE49-F238E27FC236}">
                <a16:creationId xmlns:a16="http://schemas.microsoft.com/office/drawing/2014/main" id="{790F2EBB-443B-7A05-5431-C5B5260CBDA2}"/>
              </a:ext>
            </a:extLst>
          </p:cNvPr>
          <p:cNvPicPr>
            <a:picLocks noChangeAspect="1"/>
          </p:cNvPicPr>
          <p:nvPr/>
        </p:nvPicPr>
        <p:blipFill>
          <a:blip r:embed="rId4"/>
          <a:stretch>
            <a:fillRect/>
          </a:stretch>
        </p:blipFill>
        <p:spPr>
          <a:xfrm>
            <a:off x="10560967" y="7608056"/>
            <a:ext cx="4069433" cy="6248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8784" y="656392"/>
            <a:ext cx="4493300" cy="561618"/>
          </a:xfrm>
          <a:prstGeom prst="rect">
            <a:avLst/>
          </a:prstGeom>
          <a:noFill/>
          <a:ln/>
        </p:spPr>
        <p:txBody>
          <a:bodyPr wrap="none" lIns="0" tIns="0" rIns="0" bIns="0" rtlCol="0" anchor="t"/>
          <a:lstStyle/>
          <a:p>
            <a:pPr marL="0" indent="0">
              <a:lnSpc>
                <a:spcPts val="4400"/>
              </a:lnSpc>
              <a:buNone/>
            </a:pPr>
            <a:r>
              <a:rPr lang="en-US" sz="3500" b="1" dirty="0">
                <a:solidFill>
                  <a:srgbClr val="000000"/>
                </a:solidFill>
                <a:latin typeface="Petrona" pitchFamily="34" charset="0"/>
                <a:ea typeface="Petrona" pitchFamily="34" charset="-122"/>
                <a:cs typeface="Petrona" pitchFamily="34" charset="-120"/>
              </a:rPr>
              <a:t>Abstract</a:t>
            </a:r>
            <a:endParaRPr lang="en-US" sz="3500" dirty="0"/>
          </a:p>
        </p:txBody>
      </p:sp>
      <p:sp>
        <p:nvSpPr>
          <p:cNvPr id="4" name="Text 1"/>
          <p:cNvSpPr/>
          <p:nvPr/>
        </p:nvSpPr>
        <p:spPr>
          <a:xfrm>
            <a:off x="748784" y="1458635"/>
            <a:ext cx="7646432" cy="1095375"/>
          </a:xfrm>
          <a:prstGeom prst="rect">
            <a:avLst/>
          </a:prstGeom>
          <a:noFill/>
          <a:ln/>
        </p:spPr>
        <p:txBody>
          <a:bodyPr wrap="square" lIns="0" tIns="0" rIns="0" bIns="0" rtlCol="0" anchor="t"/>
          <a:lstStyle/>
          <a:p>
            <a:pPr marL="0" indent="0">
              <a:lnSpc>
                <a:spcPts val="2150"/>
              </a:lnSpc>
              <a:buNone/>
            </a:pPr>
            <a:r>
              <a:rPr lang="en-US" sz="1300" dirty="0">
                <a:solidFill>
                  <a:srgbClr val="272525"/>
                </a:solidFill>
                <a:latin typeface="Inter" pitchFamily="34" charset="0"/>
                <a:ea typeface="Inter" pitchFamily="34" charset="-122"/>
                <a:cs typeface="Inter" pitchFamily="34" charset="-120"/>
              </a:rPr>
              <a:t>In e-commerce, online retailers are usually suffering from professional malicious users (PMUs), who utilize negative reviews and low ratings to their consumed products on purpose to threaten the retailers for illegal profits. PMUs are difficult to be detected because they utilize masking strategies to disguise themselves as normal users.</a:t>
            </a:r>
            <a:endParaRPr lang="en-US" sz="1300" dirty="0"/>
          </a:p>
        </p:txBody>
      </p:sp>
      <p:sp>
        <p:nvSpPr>
          <p:cNvPr id="5" name="Shape 2"/>
          <p:cNvSpPr/>
          <p:nvPr/>
        </p:nvSpPr>
        <p:spPr>
          <a:xfrm>
            <a:off x="748784" y="3035260"/>
            <a:ext cx="481370" cy="481370"/>
          </a:xfrm>
          <a:prstGeom prst="roundRect">
            <a:avLst>
              <a:gd name="adj" fmla="val 18669"/>
            </a:avLst>
          </a:prstGeom>
          <a:solidFill>
            <a:srgbClr val="CCEEFF"/>
          </a:solidFill>
          <a:ln w="7620">
            <a:solidFill>
              <a:srgbClr val="B2D4E5"/>
            </a:solidFill>
            <a:prstDash val="solid"/>
          </a:ln>
        </p:spPr>
      </p:sp>
      <p:sp>
        <p:nvSpPr>
          <p:cNvPr id="6" name="Text 3"/>
          <p:cNvSpPr/>
          <p:nvPr/>
        </p:nvSpPr>
        <p:spPr>
          <a:xfrm>
            <a:off x="917258" y="3107412"/>
            <a:ext cx="144304" cy="336947"/>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Petrona" pitchFamily="34" charset="0"/>
                <a:ea typeface="Petrona" pitchFamily="34" charset="-122"/>
                <a:cs typeface="Petrona" pitchFamily="34" charset="-120"/>
              </a:rPr>
              <a:t>1</a:t>
            </a:r>
            <a:endParaRPr lang="en-US" sz="2650" dirty="0"/>
          </a:p>
        </p:txBody>
      </p:sp>
      <p:sp>
        <p:nvSpPr>
          <p:cNvPr id="7" name="Text 4"/>
          <p:cNvSpPr/>
          <p:nvPr/>
        </p:nvSpPr>
        <p:spPr>
          <a:xfrm>
            <a:off x="1444109" y="3035260"/>
            <a:ext cx="2808327" cy="350996"/>
          </a:xfrm>
          <a:prstGeom prst="rect">
            <a:avLst/>
          </a:prstGeom>
          <a:noFill/>
          <a:ln/>
        </p:spPr>
        <p:txBody>
          <a:bodyPr wrap="none" lIns="0" tIns="0" rIns="0" bIns="0" rtlCol="0" anchor="t"/>
          <a:lstStyle/>
          <a:p>
            <a:pPr marL="0" indent="0">
              <a:lnSpc>
                <a:spcPts val="2750"/>
              </a:lnSpc>
              <a:buNone/>
            </a:pPr>
            <a:r>
              <a:rPr lang="en-US" sz="2200" b="1" dirty="0">
                <a:solidFill>
                  <a:srgbClr val="272525"/>
                </a:solidFill>
                <a:latin typeface="Petrona" pitchFamily="34" charset="0"/>
                <a:ea typeface="Petrona" pitchFamily="34" charset="-122"/>
                <a:cs typeface="Petrona" pitchFamily="34" charset="-120"/>
              </a:rPr>
              <a:t>Challenge 1</a:t>
            </a:r>
            <a:endParaRPr lang="en-US" sz="2200" dirty="0"/>
          </a:p>
        </p:txBody>
      </p:sp>
      <p:sp>
        <p:nvSpPr>
          <p:cNvPr id="8" name="Text 5"/>
          <p:cNvSpPr/>
          <p:nvPr/>
        </p:nvSpPr>
        <p:spPr>
          <a:xfrm>
            <a:off x="1444109" y="3514606"/>
            <a:ext cx="6951107" cy="1095375"/>
          </a:xfrm>
          <a:prstGeom prst="rect">
            <a:avLst/>
          </a:prstGeom>
          <a:noFill/>
          <a:ln/>
        </p:spPr>
        <p:txBody>
          <a:bodyPr wrap="square" lIns="0" tIns="0" rIns="0" bIns="0" rtlCol="0" anchor="t"/>
          <a:lstStyle/>
          <a:p>
            <a:pPr marL="0" indent="0">
              <a:lnSpc>
                <a:spcPts val="2150"/>
              </a:lnSpc>
              <a:buNone/>
            </a:pPr>
            <a:r>
              <a:rPr lang="en-US" sz="1300" dirty="0">
                <a:solidFill>
                  <a:srgbClr val="272525"/>
                </a:solidFill>
                <a:latin typeface="Inter" pitchFamily="34" charset="0"/>
                <a:ea typeface="Inter" pitchFamily="34" charset="-122"/>
                <a:cs typeface="Inter" pitchFamily="34" charset="-120"/>
              </a:rPr>
              <a:t>Professional malicious users do not conduct any abnormal or illegal interactions (they never concurrently leave too many negative reviews and low ratings at the same time), and they conduct masking strategies to disguise themselves. Therefore, conventional outlier detection methods are confused by their masking strategies.</a:t>
            </a:r>
            <a:endParaRPr lang="en-US" sz="1300" dirty="0"/>
          </a:p>
        </p:txBody>
      </p:sp>
      <p:sp>
        <p:nvSpPr>
          <p:cNvPr id="9" name="Shape 6"/>
          <p:cNvSpPr/>
          <p:nvPr/>
        </p:nvSpPr>
        <p:spPr>
          <a:xfrm>
            <a:off x="748784" y="5064562"/>
            <a:ext cx="481370" cy="481370"/>
          </a:xfrm>
          <a:prstGeom prst="roundRect">
            <a:avLst>
              <a:gd name="adj" fmla="val 18669"/>
            </a:avLst>
          </a:prstGeom>
          <a:solidFill>
            <a:srgbClr val="CCEEFF"/>
          </a:solidFill>
          <a:ln w="7620">
            <a:solidFill>
              <a:srgbClr val="B2D4E5"/>
            </a:solidFill>
            <a:prstDash val="solid"/>
          </a:ln>
        </p:spPr>
      </p:sp>
      <p:sp>
        <p:nvSpPr>
          <p:cNvPr id="10" name="Text 7"/>
          <p:cNvSpPr/>
          <p:nvPr/>
        </p:nvSpPr>
        <p:spPr>
          <a:xfrm>
            <a:off x="893921" y="5136713"/>
            <a:ext cx="191095" cy="336947"/>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Petrona" pitchFamily="34" charset="0"/>
                <a:ea typeface="Petrona" pitchFamily="34" charset="-122"/>
                <a:cs typeface="Petrona" pitchFamily="34" charset="-120"/>
              </a:rPr>
              <a:t>2</a:t>
            </a:r>
            <a:endParaRPr lang="en-US" sz="2650" dirty="0"/>
          </a:p>
        </p:txBody>
      </p:sp>
      <p:sp>
        <p:nvSpPr>
          <p:cNvPr id="11" name="Text 8"/>
          <p:cNvSpPr/>
          <p:nvPr/>
        </p:nvSpPr>
        <p:spPr>
          <a:xfrm>
            <a:off x="1444109" y="5064562"/>
            <a:ext cx="2808327" cy="350996"/>
          </a:xfrm>
          <a:prstGeom prst="rect">
            <a:avLst/>
          </a:prstGeom>
          <a:noFill/>
          <a:ln/>
        </p:spPr>
        <p:txBody>
          <a:bodyPr wrap="none" lIns="0" tIns="0" rIns="0" bIns="0" rtlCol="0" anchor="t"/>
          <a:lstStyle/>
          <a:p>
            <a:pPr marL="0" indent="0">
              <a:lnSpc>
                <a:spcPts val="2750"/>
              </a:lnSpc>
              <a:buNone/>
            </a:pPr>
            <a:r>
              <a:rPr lang="en-US" sz="2200" b="1" dirty="0">
                <a:solidFill>
                  <a:srgbClr val="272525"/>
                </a:solidFill>
                <a:latin typeface="Petrona" pitchFamily="34" charset="0"/>
                <a:ea typeface="Petrona" pitchFamily="34" charset="-122"/>
                <a:cs typeface="Petrona" pitchFamily="34" charset="-120"/>
              </a:rPr>
              <a:t>Challenge 2</a:t>
            </a:r>
            <a:endParaRPr lang="en-US" sz="2200" dirty="0"/>
          </a:p>
        </p:txBody>
      </p:sp>
      <p:sp>
        <p:nvSpPr>
          <p:cNvPr id="12" name="Text 9"/>
          <p:cNvSpPr/>
          <p:nvPr/>
        </p:nvSpPr>
        <p:spPr>
          <a:xfrm>
            <a:off x="1444109" y="5543907"/>
            <a:ext cx="6951107" cy="547688"/>
          </a:xfrm>
          <a:prstGeom prst="rect">
            <a:avLst/>
          </a:prstGeom>
          <a:noFill/>
          <a:ln/>
        </p:spPr>
        <p:txBody>
          <a:bodyPr wrap="square" lIns="0" tIns="0" rIns="0" bIns="0" rtlCol="0" anchor="t"/>
          <a:lstStyle/>
          <a:p>
            <a:pPr marL="0" indent="0">
              <a:lnSpc>
                <a:spcPts val="2150"/>
              </a:lnSpc>
              <a:buNone/>
            </a:pPr>
            <a:r>
              <a:rPr lang="en-US" sz="1300" dirty="0">
                <a:solidFill>
                  <a:srgbClr val="272525"/>
                </a:solidFill>
                <a:latin typeface="Inter" pitchFamily="34" charset="0"/>
                <a:ea typeface="Inter" pitchFamily="34" charset="-122"/>
                <a:cs typeface="Inter" pitchFamily="34" charset="-120"/>
              </a:rPr>
              <a:t>The PMU detection model should take both ratings and reviews into consideration, which makes PMU detection a multi-modal problem.</a:t>
            </a:r>
            <a:endParaRPr lang="en-US" sz="1300" dirty="0"/>
          </a:p>
        </p:txBody>
      </p:sp>
      <p:sp>
        <p:nvSpPr>
          <p:cNvPr id="13" name="Shape 10"/>
          <p:cNvSpPr/>
          <p:nvPr/>
        </p:nvSpPr>
        <p:spPr>
          <a:xfrm>
            <a:off x="748784" y="6546175"/>
            <a:ext cx="481370" cy="481370"/>
          </a:xfrm>
          <a:prstGeom prst="roundRect">
            <a:avLst>
              <a:gd name="adj" fmla="val 18669"/>
            </a:avLst>
          </a:prstGeom>
          <a:solidFill>
            <a:srgbClr val="CCEEFF"/>
          </a:solidFill>
          <a:ln w="7620">
            <a:solidFill>
              <a:srgbClr val="B2D4E5"/>
            </a:solidFill>
            <a:prstDash val="solid"/>
          </a:ln>
        </p:spPr>
      </p:sp>
      <p:sp>
        <p:nvSpPr>
          <p:cNvPr id="14" name="Text 11"/>
          <p:cNvSpPr/>
          <p:nvPr/>
        </p:nvSpPr>
        <p:spPr>
          <a:xfrm>
            <a:off x="894040" y="6618327"/>
            <a:ext cx="190738" cy="336947"/>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Petrona" pitchFamily="34" charset="0"/>
                <a:ea typeface="Petrona" pitchFamily="34" charset="-122"/>
                <a:cs typeface="Petrona" pitchFamily="34" charset="-120"/>
              </a:rPr>
              <a:t>3</a:t>
            </a:r>
            <a:endParaRPr lang="en-US" sz="2650" dirty="0"/>
          </a:p>
        </p:txBody>
      </p:sp>
      <p:sp>
        <p:nvSpPr>
          <p:cNvPr id="15" name="Text 12"/>
          <p:cNvSpPr/>
          <p:nvPr/>
        </p:nvSpPr>
        <p:spPr>
          <a:xfrm>
            <a:off x="1444109" y="6546175"/>
            <a:ext cx="2808327" cy="350996"/>
          </a:xfrm>
          <a:prstGeom prst="rect">
            <a:avLst/>
          </a:prstGeom>
          <a:noFill/>
          <a:ln/>
        </p:spPr>
        <p:txBody>
          <a:bodyPr wrap="none" lIns="0" tIns="0" rIns="0" bIns="0" rtlCol="0" anchor="t"/>
          <a:lstStyle/>
          <a:p>
            <a:pPr marL="0" indent="0">
              <a:lnSpc>
                <a:spcPts val="2750"/>
              </a:lnSpc>
              <a:buNone/>
            </a:pPr>
            <a:r>
              <a:rPr lang="en-US" sz="2200" b="1" dirty="0">
                <a:solidFill>
                  <a:srgbClr val="272525"/>
                </a:solidFill>
                <a:latin typeface="Petrona" pitchFamily="34" charset="0"/>
                <a:ea typeface="Petrona" pitchFamily="34" charset="-122"/>
                <a:cs typeface="Petrona" pitchFamily="34" charset="-120"/>
              </a:rPr>
              <a:t>Challenge 3</a:t>
            </a:r>
            <a:endParaRPr lang="en-US" sz="2200" dirty="0"/>
          </a:p>
        </p:txBody>
      </p:sp>
      <p:sp>
        <p:nvSpPr>
          <p:cNvPr id="16" name="Text 13"/>
          <p:cNvSpPr/>
          <p:nvPr/>
        </p:nvSpPr>
        <p:spPr>
          <a:xfrm>
            <a:off x="1444109" y="7025521"/>
            <a:ext cx="6951107" cy="547688"/>
          </a:xfrm>
          <a:prstGeom prst="rect">
            <a:avLst/>
          </a:prstGeom>
          <a:noFill/>
          <a:ln/>
        </p:spPr>
        <p:txBody>
          <a:bodyPr wrap="square" lIns="0" tIns="0" rIns="0" bIns="0" rtlCol="0" anchor="t"/>
          <a:lstStyle/>
          <a:p>
            <a:pPr marL="0" indent="0">
              <a:lnSpc>
                <a:spcPts val="2150"/>
              </a:lnSpc>
              <a:buNone/>
            </a:pPr>
            <a:r>
              <a:rPr lang="en-US" sz="1300" dirty="0">
                <a:solidFill>
                  <a:srgbClr val="272525"/>
                </a:solidFill>
                <a:latin typeface="Inter" pitchFamily="34" charset="0"/>
                <a:ea typeface="Inter" pitchFamily="34" charset="-122"/>
                <a:cs typeface="Inter" pitchFamily="34" charset="-120"/>
              </a:rPr>
              <a:t>There are no datasets with labels for professional malicious users in public, which makes PMU detection an unsupervised learning problem.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5553" y="812006"/>
            <a:ext cx="5035391" cy="629364"/>
          </a:xfrm>
          <a:prstGeom prst="rect">
            <a:avLst/>
          </a:prstGeom>
          <a:noFill/>
          <a:ln/>
        </p:spPr>
        <p:txBody>
          <a:bodyPr wrap="none" lIns="0" tIns="0" rIns="0" bIns="0" rtlCol="0" anchor="t"/>
          <a:lstStyle/>
          <a:p>
            <a:pPr marL="0" indent="0">
              <a:lnSpc>
                <a:spcPts val="4950"/>
              </a:lnSpc>
              <a:buNone/>
            </a:pPr>
            <a:r>
              <a:rPr lang="en-US" sz="3950" b="1" dirty="0">
                <a:solidFill>
                  <a:srgbClr val="000000"/>
                </a:solidFill>
                <a:latin typeface="Petrona" pitchFamily="34" charset="0"/>
                <a:ea typeface="Petrona" pitchFamily="34" charset="-122"/>
                <a:cs typeface="Petrona" pitchFamily="34" charset="-120"/>
              </a:rPr>
              <a:t>Introduction</a:t>
            </a:r>
            <a:endParaRPr lang="en-US" sz="3950" dirty="0"/>
          </a:p>
        </p:txBody>
      </p:sp>
      <p:sp>
        <p:nvSpPr>
          <p:cNvPr id="4" name="Text 1"/>
          <p:cNvSpPr/>
          <p:nvPr/>
        </p:nvSpPr>
        <p:spPr>
          <a:xfrm>
            <a:off x="6325553" y="1711047"/>
            <a:ext cx="7465695" cy="1227296"/>
          </a:xfrm>
          <a:prstGeom prst="rect">
            <a:avLst/>
          </a:prstGeom>
          <a:noFill/>
          <a:ln/>
        </p:spPr>
        <p:txBody>
          <a:bodyPr wrap="square" lIns="0" tIns="0" rIns="0" bIns="0" rtlCol="0" anchor="t"/>
          <a:lstStyle/>
          <a:p>
            <a:pPr marL="0" indent="0">
              <a:lnSpc>
                <a:spcPts val="2400"/>
              </a:lnSpc>
              <a:buNone/>
            </a:pPr>
            <a:r>
              <a:rPr lang="en-US" sz="1500" dirty="0">
                <a:solidFill>
                  <a:srgbClr val="272525"/>
                </a:solidFill>
                <a:latin typeface="Inter" pitchFamily="34" charset="0"/>
                <a:ea typeface="Inter" pitchFamily="34" charset="-122"/>
                <a:cs typeface="Inter" pitchFamily="34" charset="-120"/>
              </a:rPr>
              <a:t>This paper proposes an unsupervised multi-modal learning model: MMD, which employs Metric learning for professional Malicious users Detection with both ratings and reviews. MMD first utilizes a modified RNN to project the informational review into a sentiment score, which jointly considers the ratings and reviews.</a:t>
            </a:r>
            <a:endParaRPr lang="en-US" sz="1500" dirty="0"/>
          </a:p>
        </p:txBody>
      </p:sp>
      <p:sp>
        <p:nvSpPr>
          <p:cNvPr id="5" name="Shape 2"/>
          <p:cNvSpPr/>
          <p:nvPr/>
        </p:nvSpPr>
        <p:spPr>
          <a:xfrm>
            <a:off x="6669881" y="3208020"/>
            <a:ext cx="30480" cy="4209455"/>
          </a:xfrm>
          <a:prstGeom prst="roundRect">
            <a:avLst>
              <a:gd name="adj" fmla="val 330411"/>
            </a:avLst>
          </a:prstGeom>
          <a:solidFill>
            <a:srgbClr val="B2D4E5"/>
          </a:solidFill>
          <a:ln/>
        </p:spPr>
      </p:sp>
      <p:sp>
        <p:nvSpPr>
          <p:cNvPr id="6" name="Shape 3"/>
          <p:cNvSpPr/>
          <p:nvPr/>
        </p:nvSpPr>
        <p:spPr>
          <a:xfrm>
            <a:off x="6924377" y="3732133"/>
            <a:ext cx="839152" cy="30480"/>
          </a:xfrm>
          <a:prstGeom prst="roundRect">
            <a:avLst>
              <a:gd name="adj" fmla="val 330411"/>
            </a:avLst>
          </a:prstGeom>
          <a:solidFill>
            <a:srgbClr val="B2D4E5"/>
          </a:solidFill>
          <a:ln/>
        </p:spPr>
      </p:sp>
      <p:sp>
        <p:nvSpPr>
          <p:cNvPr id="7" name="Shape 4"/>
          <p:cNvSpPr/>
          <p:nvPr/>
        </p:nvSpPr>
        <p:spPr>
          <a:xfrm>
            <a:off x="6415385" y="3477697"/>
            <a:ext cx="539472" cy="539472"/>
          </a:xfrm>
          <a:prstGeom prst="roundRect">
            <a:avLst>
              <a:gd name="adj" fmla="val 18668"/>
            </a:avLst>
          </a:prstGeom>
          <a:solidFill>
            <a:srgbClr val="CCEEFF"/>
          </a:solidFill>
          <a:ln w="7620">
            <a:solidFill>
              <a:srgbClr val="B2D4E5"/>
            </a:solidFill>
            <a:prstDash val="solid"/>
          </a:ln>
        </p:spPr>
      </p:sp>
      <p:sp>
        <p:nvSpPr>
          <p:cNvPr id="8" name="Text 5"/>
          <p:cNvSpPr/>
          <p:nvPr/>
        </p:nvSpPr>
        <p:spPr>
          <a:xfrm>
            <a:off x="6604218" y="3558540"/>
            <a:ext cx="161687" cy="377666"/>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1</a:t>
            </a:r>
            <a:endParaRPr lang="en-US" sz="2950" dirty="0"/>
          </a:p>
        </p:txBody>
      </p:sp>
      <p:sp>
        <p:nvSpPr>
          <p:cNvPr id="9" name="Text 6"/>
          <p:cNvSpPr/>
          <p:nvPr/>
        </p:nvSpPr>
        <p:spPr>
          <a:xfrm>
            <a:off x="8003858" y="3447693"/>
            <a:ext cx="3147060" cy="393263"/>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Sentiment Score</a:t>
            </a:r>
            <a:endParaRPr lang="en-US" sz="2450" dirty="0"/>
          </a:p>
        </p:txBody>
      </p:sp>
      <p:sp>
        <p:nvSpPr>
          <p:cNvPr id="10" name="Shape 7"/>
          <p:cNvSpPr/>
          <p:nvPr/>
        </p:nvSpPr>
        <p:spPr>
          <a:xfrm>
            <a:off x="6924377" y="4844415"/>
            <a:ext cx="839152" cy="30480"/>
          </a:xfrm>
          <a:prstGeom prst="roundRect">
            <a:avLst>
              <a:gd name="adj" fmla="val 330411"/>
            </a:avLst>
          </a:prstGeom>
          <a:solidFill>
            <a:srgbClr val="B2D4E5"/>
          </a:solidFill>
          <a:ln/>
        </p:spPr>
      </p:sp>
      <p:sp>
        <p:nvSpPr>
          <p:cNvPr id="11" name="Shape 8"/>
          <p:cNvSpPr/>
          <p:nvPr/>
        </p:nvSpPr>
        <p:spPr>
          <a:xfrm>
            <a:off x="6415385" y="4589978"/>
            <a:ext cx="539472" cy="539472"/>
          </a:xfrm>
          <a:prstGeom prst="roundRect">
            <a:avLst>
              <a:gd name="adj" fmla="val 18668"/>
            </a:avLst>
          </a:prstGeom>
          <a:solidFill>
            <a:srgbClr val="CCEEFF"/>
          </a:solidFill>
          <a:ln w="7620">
            <a:solidFill>
              <a:srgbClr val="B2D4E5"/>
            </a:solidFill>
            <a:prstDash val="solid"/>
          </a:ln>
        </p:spPr>
      </p:sp>
      <p:sp>
        <p:nvSpPr>
          <p:cNvPr id="12" name="Text 9"/>
          <p:cNvSpPr/>
          <p:nvPr/>
        </p:nvSpPr>
        <p:spPr>
          <a:xfrm>
            <a:off x="6578025" y="4670822"/>
            <a:ext cx="214074" cy="377666"/>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2</a:t>
            </a:r>
            <a:endParaRPr lang="en-US" sz="2950" dirty="0"/>
          </a:p>
        </p:txBody>
      </p:sp>
      <p:sp>
        <p:nvSpPr>
          <p:cNvPr id="13" name="Text 10"/>
          <p:cNvSpPr/>
          <p:nvPr/>
        </p:nvSpPr>
        <p:spPr>
          <a:xfrm>
            <a:off x="8003858" y="4559975"/>
            <a:ext cx="5474018" cy="393263"/>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Professional Malicious User Profiling </a:t>
            </a:r>
            <a:endParaRPr lang="en-US" sz="2450" dirty="0"/>
          </a:p>
        </p:txBody>
      </p:sp>
      <p:sp>
        <p:nvSpPr>
          <p:cNvPr id="14" name="Shape 11"/>
          <p:cNvSpPr/>
          <p:nvPr/>
        </p:nvSpPr>
        <p:spPr>
          <a:xfrm>
            <a:off x="6924377" y="5956697"/>
            <a:ext cx="839152" cy="30480"/>
          </a:xfrm>
          <a:prstGeom prst="roundRect">
            <a:avLst>
              <a:gd name="adj" fmla="val 330411"/>
            </a:avLst>
          </a:prstGeom>
          <a:solidFill>
            <a:srgbClr val="B2D4E5"/>
          </a:solidFill>
          <a:ln/>
        </p:spPr>
      </p:sp>
      <p:sp>
        <p:nvSpPr>
          <p:cNvPr id="15" name="Shape 12"/>
          <p:cNvSpPr/>
          <p:nvPr/>
        </p:nvSpPr>
        <p:spPr>
          <a:xfrm>
            <a:off x="6415385" y="5702260"/>
            <a:ext cx="539472" cy="539472"/>
          </a:xfrm>
          <a:prstGeom prst="roundRect">
            <a:avLst>
              <a:gd name="adj" fmla="val 18668"/>
            </a:avLst>
          </a:prstGeom>
          <a:solidFill>
            <a:srgbClr val="CCEEFF"/>
          </a:solidFill>
          <a:ln w="7620">
            <a:solidFill>
              <a:srgbClr val="B2D4E5"/>
            </a:solidFill>
            <a:prstDash val="solid"/>
          </a:ln>
        </p:spPr>
      </p:sp>
      <p:sp>
        <p:nvSpPr>
          <p:cNvPr id="16" name="Text 13"/>
          <p:cNvSpPr/>
          <p:nvPr/>
        </p:nvSpPr>
        <p:spPr>
          <a:xfrm>
            <a:off x="6578263" y="5783104"/>
            <a:ext cx="213717" cy="377666"/>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3</a:t>
            </a:r>
            <a:endParaRPr lang="en-US" sz="2950" dirty="0"/>
          </a:p>
        </p:txBody>
      </p:sp>
      <p:sp>
        <p:nvSpPr>
          <p:cNvPr id="17" name="Text 14"/>
          <p:cNvSpPr/>
          <p:nvPr/>
        </p:nvSpPr>
        <p:spPr>
          <a:xfrm>
            <a:off x="8003858" y="5672257"/>
            <a:ext cx="4875490" cy="393263"/>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Metric Learning-based Clustering</a:t>
            </a:r>
            <a:endParaRPr lang="en-US" sz="2450" dirty="0"/>
          </a:p>
        </p:txBody>
      </p:sp>
      <p:sp>
        <p:nvSpPr>
          <p:cNvPr id="18" name="Shape 15"/>
          <p:cNvSpPr/>
          <p:nvPr/>
        </p:nvSpPr>
        <p:spPr>
          <a:xfrm>
            <a:off x="6924377" y="7068979"/>
            <a:ext cx="839152" cy="30480"/>
          </a:xfrm>
          <a:prstGeom prst="roundRect">
            <a:avLst>
              <a:gd name="adj" fmla="val 330411"/>
            </a:avLst>
          </a:prstGeom>
          <a:solidFill>
            <a:srgbClr val="B2D4E5"/>
          </a:solidFill>
          <a:ln/>
        </p:spPr>
      </p:sp>
      <p:sp>
        <p:nvSpPr>
          <p:cNvPr id="19" name="Shape 16"/>
          <p:cNvSpPr/>
          <p:nvPr/>
        </p:nvSpPr>
        <p:spPr>
          <a:xfrm>
            <a:off x="6415385" y="6814542"/>
            <a:ext cx="539472" cy="539472"/>
          </a:xfrm>
          <a:prstGeom prst="roundRect">
            <a:avLst>
              <a:gd name="adj" fmla="val 18668"/>
            </a:avLst>
          </a:prstGeom>
          <a:solidFill>
            <a:srgbClr val="CCEEFF"/>
          </a:solidFill>
          <a:ln w="7620">
            <a:solidFill>
              <a:srgbClr val="B2D4E5"/>
            </a:solidFill>
            <a:prstDash val="solid"/>
          </a:ln>
        </p:spPr>
      </p:sp>
      <p:sp>
        <p:nvSpPr>
          <p:cNvPr id="20" name="Text 17"/>
          <p:cNvSpPr/>
          <p:nvPr/>
        </p:nvSpPr>
        <p:spPr>
          <a:xfrm>
            <a:off x="6583263" y="6895386"/>
            <a:ext cx="203597" cy="377666"/>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4</a:t>
            </a:r>
            <a:endParaRPr lang="en-US" sz="2950" dirty="0"/>
          </a:p>
        </p:txBody>
      </p:sp>
      <p:sp>
        <p:nvSpPr>
          <p:cNvPr id="21" name="Text 18"/>
          <p:cNvSpPr/>
          <p:nvPr/>
        </p:nvSpPr>
        <p:spPr>
          <a:xfrm>
            <a:off x="8003858" y="6784538"/>
            <a:ext cx="3148132" cy="393263"/>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Attention Mechanism</a:t>
            </a:r>
            <a:endParaRPr lang="en-US" sz="2450" dirty="0"/>
          </a:p>
        </p:txBody>
      </p:sp>
      <p:pic>
        <p:nvPicPr>
          <p:cNvPr id="23" name="Picture 22">
            <a:extLst>
              <a:ext uri="{FF2B5EF4-FFF2-40B4-BE49-F238E27FC236}">
                <a16:creationId xmlns:a16="http://schemas.microsoft.com/office/drawing/2014/main" id="{1D89C6D5-483E-C3A9-6805-5BA60D958CCC}"/>
              </a:ext>
            </a:extLst>
          </p:cNvPr>
          <p:cNvPicPr>
            <a:picLocks noChangeAspect="1"/>
          </p:cNvPicPr>
          <p:nvPr/>
        </p:nvPicPr>
        <p:blipFill>
          <a:blip r:embed="rId4"/>
          <a:stretch>
            <a:fillRect/>
          </a:stretch>
        </p:blipFill>
        <p:spPr>
          <a:xfrm>
            <a:off x="10560967" y="7584372"/>
            <a:ext cx="4069433" cy="6248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71929" y="466638"/>
            <a:ext cx="5184577" cy="648057"/>
          </a:xfrm>
          <a:prstGeom prst="rect">
            <a:avLst/>
          </a:prstGeom>
          <a:noFill/>
          <a:ln/>
        </p:spPr>
        <p:txBody>
          <a:bodyPr wrap="none" lIns="0" tIns="0" rIns="0" bIns="0" rtlCol="0" anchor="t"/>
          <a:lstStyle/>
          <a:p>
            <a:pPr marL="0" indent="0">
              <a:lnSpc>
                <a:spcPts val="5100"/>
              </a:lnSpc>
              <a:buNone/>
            </a:pPr>
            <a:r>
              <a:rPr lang="en-US" sz="4050" b="1" dirty="0">
                <a:solidFill>
                  <a:srgbClr val="000000"/>
                </a:solidFill>
                <a:latin typeface="Petrona" pitchFamily="34" charset="0"/>
                <a:ea typeface="Petrona" pitchFamily="34" charset="-122"/>
                <a:cs typeface="Petrona" pitchFamily="34" charset="-120"/>
              </a:rPr>
              <a:t>Literature Review</a:t>
            </a:r>
            <a:endParaRPr lang="en-US" sz="4050" dirty="0"/>
          </a:p>
        </p:txBody>
      </p:sp>
      <p:sp>
        <p:nvSpPr>
          <p:cNvPr id="10" name="Arrow: Right 9">
            <a:extLst>
              <a:ext uri="{FF2B5EF4-FFF2-40B4-BE49-F238E27FC236}">
                <a16:creationId xmlns:a16="http://schemas.microsoft.com/office/drawing/2014/main" id="{A3D29F9E-C540-8E11-308E-AFDD07DF6A62}"/>
              </a:ext>
            </a:extLst>
          </p:cNvPr>
          <p:cNvSpPr/>
          <p:nvPr/>
        </p:nvSpPr>
        <p:spPr>
          <a:xfrm>
            <a:off x="12645483" y="7638586"/>
            <a:ext cx="1984917" cy="5910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9442EA38-490D-2678-46CD-DB06C4759184}"/>
              </a:ext>
            </a:extLst>
          </p:cNvPr>
          <p:cNvPicPr>
            <a:picLocks noChangeAspect="1"/>
          </p:cNvPicPr>
          <p:nvPr/>
        </p:nvPicPr>
        <p:blipFill>
          <a:blip r:embed="rId3"/>
          <a:stretch>
            <a:fillRect/>
          </a:stretch>
        </p:blipFill>
        <p:spPr>
          <a:xfrm>
            <a:off x="10560967" y="7604706"/>
            <a:ext cx="4069433" cy="624894"/>
          </a:xfrm>
          <a:prstGeom prst="rect">
            <a:avLst/>
          </a:prstGeom>
        </p:spPr>
      </p:pic>
      <p:pic>
        <p:nvPicPr>
          <p:cNvPr id="13" name="Picture 12">
            <a:extLst>
              <a:ext uri="{FF2B5EF4-FFF2-40B4-BE49-F238E27FC236}">
                <a16:creationId xmlns:a16="http://schemas.microsoft.com/office/drawing/2014/main" id="{AC5ED751-B92A-8F23-9333-CC79B1111C71}"/>
              </a:ext>
            </a:extLst>
          </p:cNvPr>
          <p:cNvPicPr>
            <a:picLocks noChangeAspect="1"/>
          </p:cNvPicPr>
          <p:nvPr/>
        </p:nvPicPr>
        <p:blipFill>
          <a:blip r:embed="rId4"/>
          <a:srcRect l="6476" t="21667" r="9911" b="22915"/>
          <a:stretch/>
        </p:blipFill>
        <p:spPr>
          <a:xfrm>
            <a:off x="1071929" y="1616713"/>
            <a:ext cx="12298384" cy="6300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1422678"/>
            <a:ext cx="5184577" cy="648057"/>
          </a:xfrm>
          <a:prstGeom prst="rect">
            <a:avLst/>
          </a:prstGeom>
          <a:noFill/>
          <a:ln/>
        </p:spPr>
        <p:txBody>
          <a:bodyPr wrap="none" lIns="0" tIns="0" rIns="0" bIns="0" rtlCol="0" anchor="t"/>
          <a:lstStyle/>
          <a:p>
            <a:pPr marL="0" indent="0">
              <a:lnSpc>
                <a:spcPts val="5100"/>
              </a:lnSpc>
              <a:buNone/>
            </a:pPr>
            <a:r>
              <a:rPr lang="en-US" sz="4050" b="1" dirty="0">
                <a:solidFill>
                  <a:srgbClr val="000000"/>
                </a:solidFill>
                <a:latin typeface="Petrona" pitchFamily="34" charset="0"/>
                <a:ea typeface="Petrona" pitchFamily="34" charset="-122"/>
                <a:cs typeface="Petrona" pitchFamily="34" charset="-120"/>
              </a:rPr>
              <a:t>Literature Review</a:t>
            </a:r>
            <a:endParaRPr lang="en-US" sz="4050" dirty="0"/>
          </a:p>
        </p:txBody>
      </p:sp>
      <p:sp>
        <p:nvSpPr>
          <p:cNvPr id="3" name="Text 1"/>
          <p:cNvSpPr/>
          <p:nvPr/>
        </p:nvSpPr>
        <p:spPr>
          <a:xfrm>
            <a:off x="864037" y="2564487"/>
            <a:ext cx="12902327" cy="947976"/>
          </a:xfrm>
          <a:prstGeom prst="rect">
            <a:avLst/>
          </a:prstGeom>
          <a:noFill/>
          <a:ln/>
        </p:spPr>
        <p:txBody>
          <a:bodyPr wrap="square" lIns="0" tIns="0" rIns="0" bIns="0" rtlCol="0" anchor="t"/>
          <a:lstStyle/>
          <a:p>
            <a:pPr marL="0" indent="0">
              <a:lnSpc>
                <a:spcPts val="2450"/>
              </a:lnSpc>
              <a:buNone/>
            </a:pPr>
            <a:r>
              <a:rPr lang="en-US" sz="1550" dirty="0">
                <a:solidFill>
                  <a:srgbClr val="272525"/>
                </a:solidFill>
                <a:latin typeface="Inter" pitchFamily="34" charset="0"/>
                <a:ea typeface="Inter" pitchFamily="34" charset="-122"/>
                <a:cs typeface="Inter" pitchFamily="34" charset="-120"/>
              </a:rPr>
              <a:t>As we define professional malicious users in recommender systems, malicious user detection is a new problem, which is an issue with little attention yet. However, we can treat this detection issue as a special case of abnormal user detection, and some existing works in this area can inspire us.</a:t>
            </a:r>
            <a:endParaRPr lang="en-US" sz="1550" dirty="0"/>
          </a:p>
        </p:txBody>
      </p:sp>
      <p:sp>
        <p:nvSpPr>
          <p:cNvPr id="4" name="Text 2"/>
          <p:cNvSpPr/>
          <p:nvPr/>
        </p:nvSpPr>
        <p:spPr>
          <a:xfrm>
            <a:off x="864037" y="4036933"/>
            <a:ext cx="3774281" cy="405051"/>
          </a:xfrm>
          <a:prstGeom prst="rect">
            <a:avLst/>
          </a:prstGeom>
          <a:noFill/>
          <a:ln/>
        </p:spPr>
        <p:txBody>
          <a:bodyPr wrap="none" lIns="0" tIns="0" rIns="0" bIns="0" rtlCol="0" anchor="t"/>
          <a:lstStyle/>
          <a:p>
            <a:pPr marL="0" indent="0">
              <a:lnSpc>
                <a:spcPts val="3150"/>
              </a:lnSpc>
              <a:buNone/>
            </a:pPr>
            <a:r>
              <a:rPr lang="en-US" sz="2550" b="1" dirty="0">
                <a:solidFill>
                  <a:srgbClr val="000000"/>
                </a:solidFill>
                <a:latin typeface="Petrona" pitchFamily="34" charset="0"/>
                <a:ea typeface="Petrona" pitchFamily="34" charset="-122"/>
                <a:cs typeface="Petrona" pitchFamily="34" charset="-120"/>
              </a:rPr>
              <a:t>Abnormal User Detection</a:t>
            </a:r>
            <a:endParaRPr lang="en-US" sz="2550" dirty="0"/>
          </a:p>
        </p:txBody>
      </p:sp>
      <p:sp>
        <p:nvSpPr>
          <p:cNvPr id="5" name="Text 3"/>
          <p:cNvSpPr/>
          <p:nvPr/>
        </p:nvSpPr>
        <p:spPr>
          <a:xfrm>
            <a:off x="864037" y="4688800"/>
            <a:ext cx="3898821" cy="1579959"/>
          </a:xfrm>
          <a:prstGeom prst="rect">
            <a:avLst/>
          </a:prstGeom>
          <a:noFill/>
          <a:ln/>
        </p:spPr>
        <p:txBody>
          <a:bodyPr wrap="square" lIns="0" tIns="0" rIns="0" bIns="0" rtlCol="0" anchor="t"/>
          <a:lstStyle/>
          <a:p>
            <a:pPr marL="0" indent="0">
              <a:lnSpc>
                <a:spcPts val="2450"/>
              </a:lnSpc>
              <a:buNone/>
            </a:pPr>
            <a:r>
              <a:rPr lang="en-US" sz="1550" dirty="0">
                <a:solidFill>
                  <a:srgbClr val="272525"/>
                </a:solidFill>
                <a:latin typeface="Inter" pitchFamily="34" charset="0"/>
                <a:ea typeface="Inter" pitchFamily="34" charset="-122"/>
                <a:cs typeface="Inter" pitchFamily="34" charset="-120"/>
              </a:rPr>
              <a:t>In e-commerce, various abnormal users (spammers, shilling group, and frauds) have greatly damaged the systems, and some abnormal user detection models are proposed to tackle this issue.</a:t>
            </a:r>
            <a:endParaRPr lang="en-US" sz="1550" dirty="0"/>
          </a:p>
        </p:txBody>
      </p:sp>
      <p:sp>
        <p:nvSpPr>
          <p:cNvPr id="6" name="Text 4"/>
          <p:cNvSpPr/>
          <p:nvPr/>
        </p:nvSpPr>
        <p:spPr>
          <a:xfrm>
            <a:off x="5372695" y="4036933"/>
            <a:ext cx="3240405" cy="405051"/>
          </a:xfrm>
          <a:prstGeom prst="rect">
            <a:avLst/>
          </a:prstGeom>
          <a:noFill/>
          <a:ln/>
        </p:spPr>
        <p:txBody>
          <a:bodyPr wrap="none" lIns="0" tIns="0" rIns="0" bIns="0" rtlCol="0" anchor="t"/>
          <a:lstStyle/>
          <a:p>
            <a:pPr marL="0" indent="0">
              <a:lnSpc>
                <a:spcPts val="3150"/>
              </a:lnSpc>
              <a:buNone/>
            </a:pPr>
            <a:r>
              <a:rPr lang="en-US" sz="2550" b="1" dirty="0">
                <a:solidFill>
                  <a:srgbClr val="000000"/>
                </a:solidFill>
                <a:latin typeface="Petrona" pitchFamily="34" charset="0"/>
                <a:ea typeface="Petrona" pitchFamily="34" charset="-122"/>
                <a:cs typeface="Petrona" pitchFamily="34" charset="-120"/>
              </a:rPr>
              <a:t>Shilling Attacks</a:t>
            </a:r>
            <a:endParaRPr lang="en-US" sz="2550" dirty="0"/>
          </a:p>
        </p:txBody>
      </p:sp>
      <p:sp>
        <p:nvSpPr>
          <p:cNvPr id="7" name="Text 5"/>
          <p:cNvSpPr/>
          <p:nvPr/>
        </p:nvSpPr>
        <p:spPr>
          <a:xfrm>
            <a:off x="5372695" y="4688800"/>
            <a:ext cx="3898821" cy="1895951"/>
          </a:xfrm>
          <a:prstGeom prst="rect">
            <a:avLst/>
          </a:prstGeom>
          <a:noFill/>
          <a:ln/>
        </p:spPr>
        <p:txBody>
          <a:bodyPr wrap="square" lIns="0" tIns="0" rIns="0" bIns="0" rtlCol="0" anchor="t"/>
          <a:lstStyle/>
          <a:p>
            <a:pPr marL="0" indent="0">
              <a:lnSpc>
                <a:spcPts val="2450"/>
              </a:lnSpc>
              <a:buNone/>
            </a:pPr>
            <a:r>
              <a:rPr lang="en-US" sz="1550" dirty="0">
                <a:solidFill>
                  <a:srgbClr val="272525"/>
                </a:solidFill>
                <a:latin typeface="Inter" pitchFamily="34" charset="0"/>
                <a:ea typeface="Inter" pitchFamily="34" charset="-122"/>
                <a:cs typeface="Inter" pitchFamily="34" charset="-120"/>
              </a:rPr>
              <a:t>Shilling attacks harm the recommender system by injecting fake profile information of users and items. They cheat the recommendation model, such as Collaborative Filtering and Matrix Factorization.</a:t>
            </a:r>
            <a:endParaRPr lang="en-US" sz="1550" dirty="0"/>
          </a:p>
        </p:txBody>
      </p:sp>
      <p:sp>
        <p:nvSpPr>
          <p:cNvPr id="8" name="Text 6"/>
          <p:cNvSpPr/>
          <p:nvPr/>
        </p:nvSpPr>
        <p:spPr>
          <a:xfrm>
            <a:off x="9881354" y="4036933"/>
            <a:ext cx="3240405" cy="405051"/>
          </a:xfrm>
          <a:prstGeom prst="rect">
            <a:avLst/>
          </a:prstGeom>
          <a:noFill/>
          <a:ln/>
        </p:spPr>
        <p:txBody>
          <a:bodyPr wrap="none" lIns="0" tIns="0" rIns="0" bIns="0" rtlCol="0" anchor="t"/>
          <a:lstStyle/>
          <a:p>
            <a:pPr marL="0" indent="0">
              <a:lnSpc>
                <a:spcPts val="3150"/>
              </a:lnSpc>
              <a:buNone/>
            </a:pPr>
            <a:r>
              <a:rPr lang="en-US" sz="2550" b="1" dirty="0">
                <a:solidFill>
                  <a:srgbClr val="000000"/>
                </a:solidFill>
                <a:latin typeface="Petrona" pitchFamily="34" charset="0"/>
                <a:ea typeface="Petrona" pitchFamily="34" charset="-122"/>
                <a:cs typeface="Petrona" pitchFamily="34" charset="-120"/>
              </a:rPr>
              <a:t>Frauds</a:t>
            </a:r>
            <a:endParaRPr lang="en-US" sz="2550" dirty="0"/>
          </a:p>
        </p:txBody>
      </p:sp>
      <p:sp>
        <p:nvSpPr>
          <p:cNvPr id="9" name="Text 7"/>
          <p:cNvSpPr/>
          <p:nvPr/>
        </p:nvSpPr>
        <p:spPr>
          <a:xfrm>
            <a:off x="9881354" y="4688800"/>
            <a:ext cx="3898821" cy="1895951"/>
          </a:xfrm>
          <a:prstGeom prst="rect">
            <a:avLst/>
          </a:prstGeom>
          <a:noFill/>
          <a:ln/>
        </p:spPr>
        <p:txBody>
          <a:bodyPr wrap="square" lIns="0" tIns="0" rIns="0" bIns="0" rtlCol="0" anchor="t"/>
          <a:lstStyle/>
          <a:p>
            <a:pPr marL="0" indent="0">
              <a:lnSpc>
                <a:spcPts val="2450"/>
              </a:lnSpc>
              <a:buNone/>
            </a:pPr>
            <a:r>
              <a:rPr lang="en-US" sz="1550" dirty="0">
                <a:solidFill>
                  <a:srgbClr val="272525"/>
                </a:solidFill>
                <a:latin typeface="Inter" pitchFamily="34" charset="0"/>
                <a:ea typeface="Inter" pitchFamily="34" charset="-122"/>
                <a:cs typeface="Inter" pitchFamily="34" charset="-120"/>
              </a:rPr>
              <a:t>Frauds usually give fake reviews to hurt the profits of electronic retailers. Some researches of abnormal user detection utilize the machine learning model to find fake ratings or reviews and achieve an effective result.</a:t>
            </a:r>
            <a:endParaRPr lang="en-US" sz="1550" dirty="0"/>
          </a:p>
        </p:txBody>
      </p:sp>
      <p:sp>
        <p:nvSpPr>
          <p:cNvPr id="10" name="Arrow: Right 9">
            <a:extLst>
              <a:ext uri="{FF2B5EF4-FFF2-40B4-BE49-F238E27FC236}">
                <a16:creationId xmlns:a16="http://schemas.microsoft.com/office/drawing/2014/main" id="{A3D29F9E-C540-8E11-308E-AFDD07DF6A62}"/>
              </a:ext>
            </a:extLst>
          </p:cNvPr>
          <p:cNvSpPr/>
          <p:nvPr/>
        </p:nvSpPr>
        <p:spPr>
          <a:xfrm>
            <a:off x="12645483" y="7638586"/>
            <a:ext cx="1984917" cy="5910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9442EA38-490D-2678-46CD-DB06C4759184}"/>
              </a:ext>
            </a:extLst>
          </p:cNvPr>
          <p:cNvPicPr>
            <a:picLocks noChangeAspect="1"/>
          </p:cNvPicPr>
          <p:nvPr/>
        </p:nvPicPr>
        <p:blipFill>
          <a:blip r:embed="rId3"/>
          <a:stretch>
            <a:fillRect/>
          </a:stretch>
        </p:blipFill>
        <p:spPr>
          <a:xfrm>
            <a:off x="10560967" y="7604706"/>
            <a:ext cx="4069433" cy="624894"/>
          </a:xfrm>
          <a:prstGeom prst="rect">
            <a:avLst/>
          </a:prstGeom>
        </p:spPr>
      </p:pic>
    </p:spTree>
    <p:extLst>
      <p:ext uri="{BB962C8B-B14F-4D97-AF65-F5344CB8AC3E}">
        <p14:creationId xmlns:p14="http://schemas.microsoft.com/office/powerpoint/2010/main" val="10168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43677" y="676989"/>
            <a:ext cx="5062657" cy="632817"/>
          </a:xfrm>
          <a:prstGeom prst="rect">
            <a:avLst/>
          </a:prstGeom>
          <a:noFill/>
          <a:ln/>
        </p:spPr>
        <p:txBody>
          <a:bodyPr wrap="none" lIns="0" tIns="0" rIns="0" bIns="0" rtlCol="0" anchor="t"/>
          <a:lstStyle/>
          <a:p>
            <a:pPr marL="0" indent="0">
              <a:lnSpc>
                <a:spcPts val="4950"/>
              </a:lnSpc>
              <a:buNone/>
            </a:pPr>
            <a:r>
              <a:rPr lang="en-US" sz="3950" b="1" dirty="0">
                <a:solidFill>
                  <a:srgbClr val="000000"/>
                </a:solidFill>
                <a:latin typeface="Petrona" pitchFamily="34" charset="0"/>
                <a:ea typeface="Petrona" pitchFamily="34" charset="-122"/>
                <a:cs typeface="Petrona" pitchFamily="34" charset="-120"/>
              </a:rPr>
              <a:t>Problem Statement</a:t>
            </a:r>
            <a:endParaRPr lang="en-US" sz="3950" dirty="0"/>
          </a:p>
        </p:txBody>
      </p:sp>
      <p:sp>
        <p:nvSpPr>
          <p:cNvPr id="4" name="Text 1"/>
          <p:cNvSpPr/>
          <p:nvPr/>
        </p:nvSpPr>
        <p:spPr>
          <a:xfrm>
            <a:off x="843677" y="1580912"/>
            <a:ext cx="7456646" cy="1543050"/>
          </a:xfrm>
          <a:prstGeom prst="rect">
            <a:avLst/>
          </a:prstGeom>
          <a:noFill/>
          <a:ln/>
        </p:spPr>
        <p:txBody>
          <a:bodyPr wrap="square" lIns="0" tIns="0" rIns="0" bIns="0" rtlCol="0" anchor="t"/>
          <a:lstStyle/>
          <a:p>
            <a:pPr marL="0" indent="0">
              <a:lnSpc>
                <a:spcPts val="2400"/>
              </a:lnSpc>
              <a:buNone/>
            </a:pPr>
            <a:r>
              <a:rPr lang="en-US" sz="1500" dirty="0">
                <a:solidFill>
                  <a:srgbClr val="272525"/>
                </a:solidFill>
                <a:latin typeface="Inter" pitchFamily="34" charset="0"/>
                <a:ea typeface="Inter" pitchFamily="34" charset="-122"/>
                <a:cs typeface="Inter" pitchFamily="34" charset="-120"/>
              </a:rPr>
              <a:t>However, different from abnormal users above (spammers, shilling group, and fraud), professional malicious users are smarter and craftier. Shilling attacks inject fake ratings or reviews just before the recommendation process, while for PMUs, all the actions that professional malicious users have taken are well-behaved by the rules of e-commerce websites (called masking strategies).</a:t>
            </a:r>
            <a:endParaRPr lang="en-US" sz="1500" dirty="0"/>
          </a:p>
        </p:txBody>
      </p:sp>
      <p:sp>
        <p:nvSpPr>
          <p:cNvPr id="5" name="Shape 2"/>
          <p:cNvSpPr/>
          <p:nvPr/>
        </p:nvSpPr>
        <p:spPr>
          <a:xfrm>
            <a:off x="843677" y="3395067"/>
            <a:ext cx="7456646" cy="1953339"/>
          </a:xfrm>
          <a:prstGeom prst="roundRect">
            <a:avLst>
              <a:gd name="adj" fmla="val 5184"/>
            </a:avLst>
          </a:prstGeom>
          <a:solidFill>
            <a:srgbClr val="CCEEFF"/>
          </a:solidFill>
          <a:ln w="7620">
            <a:solidFill>
              <a:srgbClr val="B2D4E5"/>
            </a:solidFill>
            <a:prstDash val="solid"/>
          </a:ln>
        </p:spPr>
      </p:sp>
      <p:sp>
        <p:nvSpPr>
          <p:cNvPr id="6" name="Text 3"/>
          <p:cNvSpPr/>
          <p:nvPr/>
        </p:nvSpPr>
        <p:spPr>
          <a:xfrm>
            <a:off x="1092279" y="3643670"/>
            <a:ext cx="6959441" cy="385763"/>
          </a:xfrm>
          <a:prstGeom prst="rect">
            <a:avLst/>
          </a:prstGeom>
          <a:noFill/>
          <a:ln/>
        </p:spPr>
        <p:txBody>
          <a:bodyPr wrap="none" lIns="0" tIns="0" rIns="0" bIns="0" rtlCol="0" anchor="t"/>
          <a:lstStyle/>
          <a:p>
            <a:pPr marL="0" indent="0">
              <a:lnSpc>
                <a:spcPts val="3000"/>
              </a:lnSpc>
              <a:buNone/>
            </a:pPr>
            <a:r>
              <a:rPr lang="en-US" sz="1850" b="1" dirty="0">
                <a:solidFill>
                  <a:srgbClr val="272525"/>
                </a:solidFill>
                <a:latin typeface="Inter" pitchFamily="34" charset="0"/>
                <a:ea typeface="Inter" pitchFamily="34" charset="-122"/>
                <a:cs typeface="Inter" pitchFamily="34" charset="-120"/>
              </a:rPr>
              <a:t>Masking Strategies</a:t>
            </a:r>
            <a:endParaRPr lang="en-US" sz="1850" dirty="0"/>
          </a:p>
        </p:txBody>
      </p:sp>
      <p:sp>
        <p:nvSpPr>
          <p:cNvPr id="7" name="Text 4"/>
          <p:cNvSpPr/>
          <p:nvPr/>
        </p:nvSpPr>
        <p:spPr>
          <a:xfrm>
            <a:off x="1092279" y="4173974"/>
            <a:ext cx="6959441" cy="925830"/>
          </a:xfrm>
          <a:prstGeom prst="rect">
            <a:avLst/>
          </a:prstGeom>
          <a:noFill/>
          <a:ln/>
        </p:spPr>
        <p:txBody>
          <a:bodyPr wrap="square" lIns="0" tIns="0" rIns="0" bIns="0" rtlCol="0" anchor="t"/>
          <a:lstStyle/>
          <a:p>
            <a:pPr marL="0" indent="0">
              <a:lnSpc>
                <a:spcPts val="2400"/>
              </a:lnSpc>
              <a:buNone/>
            </a:pPr>
            <a:r>
              <a:rPr lang="en-US" sz="1500" dirty="0">
                <a:solidFill>
                  <a:srgbClr val="272525"/>
                </a:solidFill>
                <a:latin typeface="Inter" pitchFamily="34" charset="0"/>
                <a:ea typeface="Inter" pitchFamily="34" charset="-122"/>
                <a:cs typeface="Inter" pitchFamily="34" charset="-120"/>
              </a:rPr>
              <a:t>They utilize the bug of abnormal detections, without leaving low ratings and negative feedback at the same time, to avoid detections. Then they can make illegal profits and hurt the electronic retailers.</a:t>
            </a:r>
            <a:endParaRPr lang="en-US" sz="1500" dirty="0"/>
          </a:p>
        </p:txBody>
      </p:sp>
      <p:sp>
        <p:nvSpPr>
          <p:cNvPr id="8" name="Shape 5"/>
          <p:cNvSpPr/>
          <p:nvPr/>
        </p:nvSpPr>
        <p:spPr>
          <a:xfrm>
            <a:off x="843677" y="5589389"/>
            <a:ext cx="7456646" cy="1963103"/>
          </a:xfrm>
          <a:prstGeom prst="roundRect">
            <a:avLst>
              <a:gd name="adj" fmla="val 5158"/>
            </a:avLst>
          </a:prstGeom>
          <a:solidFill>
            <a:srgbClr val="CCEEFF"/>
          </a:solidFill>
          <a:ln w="7620">
            <a:solidFill>
              <a:srgbClr val="B2D4E5"/>
            </a:solidFill>
            <a:prstDash val="solid"/>
          </a:ln>
        </p:spPr>
      </p:sp>
      <p:sp>
        <p:nvSpPr>
          <p:cNvPr id="9" name="Text 6"/>
          <p:cNvSpPr/>
          <p:nvPr/>
        </p:nvSpPr>
        <p:spPr>
          <a:xfrm>
            <a:off x="1092279" y="5837992"/>
            <a:ext cx="3164205" cy="395526"/>
          </a:xfrm>
          <a:prstGeom prst="rect">
            <a:avLst/>
          </a:prstGeom>
          <a:noFill/>
          <a:ln/>
        </p:spPr>
        <p:txBody>
          <a:bodyPr wrap="none" lIns="0" tIns="0" rIns="0" bIns="0" rtlCol="0" anchor="t"/>
          <a:lstStyle/>
          <a:p>
            <a:pPr marL="0" indent="0">
              <a:lnSpc>
                <a:spcPts val="3100"/>
              </a:lnSpc>
              <a:buNone/>
            </a:pPr>
            <a:r>
              <a:rPr lang="en-US" sz="2450" b="1" dirty="0">
                <a:solidFill>
                  <a:srgbClr val="272525"/>
                </a:solidFill>
                <a:latin typeface="Petrona" pitchFamily="34" charset="0"/>
                <a:ea typeface="Petrona" pitchFamily="34" charset="-122"/>
                <a:cs typeface="Petrona" pitchFamily="34" charset="-120"/>
              </a:rPr>
              <a:t>Normal Users</a:t>
            </a:r>
            <a:endParaRPr lang="en-US" sz="2450" dirty="0"/>
          </a:p>
        </p:txBody>
      </p:sp>
      <p:sp>
        <p:nvSpPr>
          <p:cNvPr id="10" name="Text 7"/>
          <p:cNvSpPr/>
          <p:nvPr/>
        </p:nvSpPr>
        <p:spPr>
          <a:xfrm>
            <a:off x="1092279" y="6378059"/>
            <a:ext cx="6959441" cy="925830"/>
          </a:xfrm>
          <a:prstGeom prst="rect">
            <a:avLst/>
          </a:prstGeom>
          <a:noFill/>
          <a:ln/>
        </p:spPr>
        <p:txBody>
          <a:bodyPr wrap="square" lIns="0" tIns="0" rIns="0" bIns="0" rtlCol="0" anchor="t"/>
          <a:lstStyle/>
          <a:p>
            <a:pPr marL="0" indent="0">
              <a:lnSpc>
                <a:spcPts val="2400"/>
              </a:lnSpc>
              <a:buNone/>
            </a:pPr>
            <a:r>
              <a:rPr lang="en-US" sz="1500" dirty="0">
                <a:solidFill>
                  <a:srgbClr val="272525"/>
                </a:solidFill>
                <a:latin typeface="Inter" pitchFamily="34" charset="0"/>
                <a:ea typeface="Inter" pitchFamily="34" charset="-122"/>
                <a:cs typeface="Inter" pitchFamily="34" charset="-120"/>
              </a:rPr>
              <a:t>Basically, they are “normal” users for the existing abnormal user detection models, which makes the professional malicious user detection a critical issue in the recommender system area.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2522220" y="141040"/>
            <a:ext cx="4792980" cy="599123"/>
          </a:xfrm>
          <a:prstGeom prst="rect">
            <a:avLst/>
          </a:prstGeom>
          <a:noFill/>
          <a:ln/>
        </p:spPr>
        <p:txBody>
          <a:bodyPr wrap="none" lIns="0" tIns="0" rIns="0" bIns="0" rtlCol="0" anchor="t"/>
          <a:lstStyle/>
          <a:p>
            <a:pPr marL="0" indent="0">
              <a:lnSpc>
                <a:spcPts val="4700"/>
              </a:lnSpc>
              <a:buNone/>
            </a:pPr>
            <a:r>
              <a:rPr lang="en-US" sz="3750" b="1" dirty="0"/>
              <a:t>Design (UML Diagrams</a:t>
            </a:r>
            <a:r>
              <a:rPr lang="en-US" sz="3750" dirty="0"/>
              <a:t>)</a:t>
            </a:r>
          </a:p>
        </p:txBody>
      </p:sp>
      <p:sp>
        <p:nvSpPr>
          <p:cNvPr id="14" name="Shape 11"/>
          <p:cNvSpPr/>
          <p:nvPr/>
        </p:nvSpPr>
        <p:spPr>
          <a:xfrm>
            <a:off x="6292810" y="4161353"/>
            <a:ext cx="7531179" cy="1384578"/>
          </a:xfrm>
          <a:prstGeom prst="rect">
            <a:avLst/>
          </a:prstGeom>
          <a:solidFill>
            <a:srgbClr val="FFFFFF">
              <a:alpha val="4000"/>
            </a:srgbClr>
          </a:solidFill>
          <a:ln/>
        </p:spPr>
      </p:sp>
      <p:sp>
        <p:nvSpPr>
          <p:cNvPr id="22" name="Shape 19"/>
          <p:cNvSpPr/>
          <p:nvPr/>
        </p:nvSpPr>
        <p:spPr>
          <a:xfrm>
            <a:off x="6292810" y="6565344"/>
            <a:ext cx="7531179" cy="1019413"/>
          </a:xfrm>
          <a:prstGeom prst="rect">
            <a:avLst/>
          </a:prstGeom>
          <a:solidFill>
            <a:srgbClr val="FFFFFF">
              <a:alpha val="4000"/>
            </a:srgbClr>
          </a:solidFill>
          <a:ln/>
        </p:spPr>
      </p:sp>
      <p:pic>
        <p:nvPicPr>
          <p:cNvPr id="27" name="Picture 26">
            <a:extLst>
              <a:ext uri="{FF2B5EF4-FFF2-40B4-BE49-F238E27FC236}">
                <a16:creationId xmlns:a16="http://schemas.microsoft.com/office/drawing/2014/main" id="{CAC4540D-EF63-F04B-17C8-464E1DEB5DB1}"/>
              </a:ext>
            </a:extLst>
          </p:cNvPr>
          <p:cNvPicPr>
            <a:picLocks noChangeAspect="1"/>
          </p:cNvPicPr>
          <p:nvPr/>
        </p:nvPicPr>
        <p:blipFill>
          <a:blip r:embed="rId3"/>
          <a:stretch>
            <a:fillRect/>
          </a:stretch>
        </p:blipFill>
        <p:spPr>
          <a:xfrm>
            <a:off x="10560966" y="7599998"/>
            <a:ext cx="4069433" cy="561526"/>
          </a:xfrm>
          <a:prstGeom prst="rect">
            <a:avLst/>
          </a:prstGeom>
        </p:spPr>
      </p:pic>
      <p:pic>
        <p:nvPicPr>
          <p:cNvPr id="29" name="Picture 28">
            <a:extLst>
              <a:ext uri="{FF2B5EF4-FFF2-40B4-BE49-F238E27FC236}">
                <a16:creationId xmlns:a16="http://schemas.microsoft.com/office/drawing/2014/main" id="{64576B5B-2F6B-8593-B37A-1D8CCF541FC6}"/>
              </a:ext>
            </a:extLst>
          </p:cNvPr>
          <p:cNvPicPr>
            <a:picLocks noChangeAspect="1"/>
          </p:cNvPicPr>
          <p:nvPr/>
        </p:nvPicPr>
        <p:blipFill>
          <a:blip r:embed="rId4"/>
          <a:stretch>
            <a:fillRect/>
          </a:stretch>
        </p:blipFill>
        <p:spPr>
          <a:xfrm>
            <a:off x="2384536" y="1036167"/>
            <a:ext cx="9591872" cy="68445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5190" y="637223"/>
            <a:ext cx="4792980" cy="599123"/>
          </a:xfrm>
          <a:prstGeom prst="rect">
            <a:avLst/>
          </a:prstGeom>
          <a:noFill/>
          <a:ln/>
        </p:spPr>
        <p:txBody>
          <a:bodyPr wrap="none" lIns="0" tIns="0" rIns="0" bIns="0" rtlCol="0" anchor="t"/>
          <a:lstStyle/>
          <a:p>
            <a:pPr marL="0" indent="0">
              <a:lnSpc>
                <a:spcPts val="4700"/>
              </a:lnSpc>
              <a:buNone/>
            </a:pPr>
            <a:r>
              <a:rPr lang="en-US" sz="3750" dirty="0"/>
              <a:t>Classes</a:t>
            </a:r>
          </a:p>
        </p:txBody>
      </p:sp>
      <p:sp>
        <p:nvSpPr>
          <p:cNvPr id="4" name="Text 1"/>
          <p:cNvSpPr/>
          <p:nvPr/>
        </p:nvSpPr>
        <p:spPr>
          <a:xfrm>
            <a:off x="6285190" y="1493044"/>
            <a:ext cx="7546419"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This work focuses on detecting professional malicious users in recommender systems, using both user ratings and reviews.</a:t>
            </a:r>
            <a:endParaRPr lang="en-US" sz="1750" dirty="0"/>
          </a:p>
        </p:txBody>
      </p:sp>
      <p:sp>
        <p:nvSpPr>
          <p:cNvPr id="5" name="Shape 2"/>
          <p:cNvSpPr/>
          <p:nvPr/>
        </p:nvSpPr>
        <p:spPr>
          <a:xfrm>
            <a:off x="6285190" y="2480072"/>
            <a:ext cx="7546419" cy="5112306"/>
          </a:xfrm>
          <a:prstGeom prst="roundRect">
            <a:avLst>
              <a:gd name="adj" fmla="val 1875"/>
            </a:avLst>
          </a:prstGeom>
          <a:noFill/>
          <a:ln w="7620">
            <a:solidFill>
              <a:srgbClr val="000000">
                <a:alpha val="8000"/>
              </a:srgbClr>
            </a:solidFill>
            <a:prstDash val="solid"/>
          </a:ln>
        </p:spPr>
      </p:sp>
      <p:sp>
        <p:nvSpPr>
          <p:cNvPr id="6" name="Shape 3"/>
          <p:cNvSpPr/>
          <p:nvPr/>
        </p:nvSpPr>
        <p:spPr>
          <a:xfrm>
            <a:off x="6292810" y="2487692"/>
            <a:ext cx="7531179" cy="654248"/>
          </a:xfrm>
          <a:prstGeom prst="rect">
            <a:avLst/>
          </a:prstGeom>
          <a:solidFill>
            <a:srgbClr val="FFFFFF">
              <a:alpha val="4000"/>
            </a:srgbClr>
          </a:solidFill>
          <a:ln/>
        </p:spPr>
      </p:sp>
      <p:sp>
        <p:nvSpPr>
          <p:cNvPr id="7" name="Text 4"/>
          <p:cNvSpPr/>
          <p:nvPr/>
        </p:nvSpPr>
        <p:spPr>
          <a:xfrm>
            <a:off x="6521172" y="2632234"/>
            <a:ext cx="1430179"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Class</a:t>
            </a:r>
            <a:endParaRPr lang="en-US" sz="1750" dirty="0"/>
          </a:p>
        </p:txBody>
      </p:sp>
      <p:sp>
        <p:nvSpPr>
          <p:cNvPr id="8" name="Text 5"/>
          <p:cNvSpPr/>
          <p:nvPr/>
        </p:nvSpPr>
        <p:spPr>
          <a:xfrm>
            <a:off x="8415218" y="2632234"/>
            <a:ext cx="2356485"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Attributes</a:t>
            </a:r>
            <a:endParaRPr lang="en-US" sz="1750" dirty="0"/>
          </a:p>
        </p:txBody>
      </p:sp>
      <p:sp>
        <p:nvSpPr>
          <p:cNvPr id="9" name="Text 6"/>
          <p:cNvSpPr/>
          <p:nvPr/>
        </p:nvSpPr>
        <p:spPr>
          <a:xfrm>
            <a:off x="11235571" y="2632234"/>
            <a:ext cx="2360295"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Methods</a:t>
            </a:r>
            <a:endParaRPr lang="en-US" sz="1750" dirty="0"/>
          </a:p>
        </p:txBody>
      </p:sp>
      <p:sp>
        <p:nvSpPr>
          <p:cNvPr id="10" name="Shape 7"/>
          <p:cNvSpPr/>
          <p:nvPr/>
        </p:nvSpPr>
        <p:spPr>
          <a:xfrm>
            <a:off x="6292810" y="3141940"/>
            <a:ext cx="7531179" cy="1019413"/>
          </a:xfrm>
          <a:prstGeom prst="rect">
            <a:avLst/>
          </a:prstGeom>
          <a:solidFill>
            <a:srgbClr val="000000">
              <a:alpha val="4000"/>
            </a:srgbClr>
          </a:solidFill>
          <a:ln/>
        </p:spPr>
      </p:sp>
      <p:sp>
        <p:nvSpPr>
          <p:cNvPr id="11" name="Text 8"/>
          <p:cNvSpPr/>
          <p:nvPr/>
        </p:nvSpPr>
        <p:spPr>
          <a:xfrm>
            <a:off x="6521172" y="3286482"/>
            <a:ext cx="1430179"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User</a:t>
            </a:r>
            <a:endParaRPr lang="en-US" sz="1750" dirty="0"/>
          </a:p>
        </p:txBody>
      </p:sp>
      <p:sp>
        <p:nvSpPr>
          <p:cNvPr id="12" name="Text 9"/>
          <p:cNvSpPr/>
          <p:nvPr/>
        </p:nvSpPr>
        <p:spPr>
          <a:xfrm>
            <a:off x="8415218" y="3286482"/>
            <a:ext cx="2356485"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ID, Ratings, Reviews</a:t>
            </a:r>
            <a:endParaRPr lang="en-US" sz="1750" dirty="0"/>
          </a:p>
        </p:txBody>
      </p:sp>
      <p:sp>
        <p:nvSpPr>
          <p:cNvPr id="13" name="Text 10"/>
          <p:cNvSpPr/>
          <p:nvPr/>
        </p:nvSpPr>
        <p:spPr>
          <a:xfrm>
            <a:off x="11235571" y="3286482"/>
            <a:ext cx="2360295"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Get Ratings, Get Reviews</a:t>
            </a:r>
            <a:endParaRPr lang="en-US" sz="1750" dirty="0"/>
          </a:p>
        </p:txBody>
      </p:sp>
      <p:sp>
        <p:nvSpPr>
          <p:cNvPr id="14" name="Shape 11"/>
          <p:cNvSpPr/>
          <p:nvPr/>
        </p:nvSpPr>
        <p:spPr>
          <a:xfrm>
            <a:off x="6292810" y="4161353"/>
            <a:ext cx="7531179" cy="1384578"/>
          </a:xfrm>
          <a:prstGeom prst="rect">
            <a:avLst/>
          </a:prstGeom>
          <a:solidFill>
            <a:srgbClr val="FFFFFF">
              <a:alpha val="4000"/>
            </a:srgbClr>
          </a:solidFill>
          <a:ln/>
        </p:spPr>
      </p:sp>
      <p:sp>
        <p:nvSpPr>
          <p:cNvPr id="15" name="Text 12"/>
          <p:cNvSpPr/>
          <p:nvPr/>
        </p:nvSpPr>
        <p:spPr>
          <a:xfrm>
            <a:off x="6521172" y="4305895"/>
            <a:ext cx="1430179"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MMD</a:t>
            </a:r>
            <a:endParaRPr lang="en-US" sz="1750" dirty="0"/>
          </a:p>
        </p:txBody>
      </p:sp>
      <p:sp>
        <p:nvSpPr>
          <p:cNvPr id="16" name="Text 13"/>
          <p:cNvSpPr/>
          <p:nvPr/>
        </p:nvSpPr>
        <p:spPr>
          <a:xfrm>
            <a:off x="8415218" y="4305895"/>
            <a:ext cx="2356485"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Sentiment Score, MUP, Metric Matrix</a:t>
            </a:r>
            <a:endParaRPr lang="en-US" sz="1750" dirty="0"/>
          </a:p>
        </p:txBody>
      </p:sp>
      <p:sp>
        <p:nvSpPr>
          <p:cNvPr id="17" name="Text 14"/>
          <p:cNvSpPr/>
          <p:nvPr/>
        </p:nvSpPr>
        <p:spPr>
          <a:xfrm>
            <a:off x="11235571" y="4305895"/>
            <a:ext cx="2360295" cy="1095494"/>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Calculate Sentiment Score, Profile Users, Detect PMUs</a:t>
            </a:r>
            <a:endParaRPr lang="en-US" sz="1750" dirty="0"/>
          </a:p>
        </p:txBody>
      </p:sp>
      <p:sp>
        <p:nvSpPr>
          <p:cNvPr id="18" name="Shape 15"/>
          <p:cNvSpPr/>
          <p:nvPr/>
        </p:nvSpPr>
        <p:spPr>
          <a:xfrm>
            <a:off x="6292810" y="5545931"/>
            <a:ext cx="7531179" cy="1019413"/>
          </a:xfrm>
          <a:prstGeom prst="rect">
            <a:avLst/>
          </a:prstGeom>
          <a:solidFill>
            <a:srgbClr val="000000">
              <a:alpha val="4000"/>
            </a:srgbClr>
          </a:solidFill>
          <a:ln/>
        </p:spPr>
      </p:sp>
      <p:sp>
        <p:nvSpPr>
          <p:cNvPr id="19" name="Text 16"/>
          <p:cNvSpPr/>
          <p:nvPr/>
        </p:nvSpPr>
        <p:spPr>
          <a:xfrm>
            <a:off x="6521172" y="5690473"/>
            <a:ext cx="1430179"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RNN</a:t>
            </a:r>
            <a:endParaRPr lang="en-US" sz="1750" dirty="0"/>
          </a:p>
        </p:txBody>
      </p:sp>
      <p:sp>
        <p:nvSpPr>
          <p:cNvPr id="20" name="Text 17"/>
          <p:cNvSpPr/>
          <p:nvPr/>
        </p:nvSpPr>
        <p:spPr>
          <a:xfrm>
            <a:off x="8415218" y="5690473"/>
            <a:ext cx="2356485"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Hidden States, Weights</a:t>
            </a:r>
            <a:endParaRPr lang="en-US" sz="1750" dirty="0"/>
          </a:p>
        </p:txBody>
      </p:sp>
      <p:sp>
        <p:nvSpPr>
          <p:cNvPr id="21" name="Text 18"/>
          <p:cNvSpPr/>
          <p:nvPr/>
        </p:nvSpPr>
        <p:spPr>
          <a:xfrm>
            <a:off x="11235571" y="5690473"/>
            <a:ext cx="2360295" cy="365165"/>
          </a:xfrm>
          <a:prstGeom prst="rect">
            <a:avLst/>
          </a:prstGeom>
          <a:noFill/>
          <a:ln/>
        </p:spPr>
        <p:txBody>
          <a:bodyPr wrap="non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Forward, Backward</a:t>
            </a:r>
            <a:endParaRPr lang="en-US" sz="1750" dirty="0"/>
          </a:p>
        </p:txBody>
      </p:sp>
      <p:sp>
        <p:nvSpPr>
          <p:cNvPr id="22" name="Shape 19"/>
          <p:cNvSpPr/>
          <p:nvPr/>
        </p:nvSpPr>
        <p:spPr>
          <a:xfrm>
            <a:off x="6292810" y="6565344"/>
            <a:ext cx="7531179" cy="1019413"/>
          </a:xfrm>
          <a:prstGeom prst="rect">
            <a:avLst/>
          </a:prstGeom>
          <a:solidFill>
            <a:srgbClr val="FFFFFF">
              <a:alpha val="4000"/>
            </a:srgbClr>
          </a:solidFill>
          <a:ln/>
        </p:spPr>
      </p:sp>
      <p:sp>
        <p:nvSpPr>
          <p:cNvPr id="23" name="Text 20"/>
          <p:cNvSpPr/>
          <p:nvPr/>
        </p:nvSpPr>
        <p:spPr>
          <a:xfrm>
            <a:off x="6521172" y="6709886"/>
            <a:ext cx="1430179"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Metric Learning</a:t>
            </a:r>
            <a:endParaRPr lang="en-US" sz="1750" dirty="0"/>
          </a:p>
        </p:txBody>
      </p:sp>
      <p:sp>
        <p:nvSpPr>
          <p:cNvPr id="24" name="Text 21"/>
          <p:cNvSpPr/>
          <p:nvPr/>
        </p:nvSpPr>
        <p:spPr>
          <a:xfrm>
            <a:off x="8415218" y="6709886"/>
            <a:ext cx="2356485"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Distance Function, Similarity Measure</a:t>
            </a:r>
            <a:endParaRPr lang="en-US" sz="1750" dirty="0"/>
          </a:p>
        </p:txBody>
      </p:sp>
      <p:sp>
        <p:nvSpPr>
          <p:cNvPr id="25" name="Text 22"/>
          <p:cNvSpPr/>
          <p:nvPr/>
        </p:nvSpPr>
        <p:spPr>
          <a:xfrm>
            <a:off x="11235571" y="6709886"/>
            <a:ext cx="2360295" cy="730329"/>
          </a:xfrm>
          <a:prstGeom prst="rect">
            <a:avLst/>
          </a:prstGeom>
          <a:noFill/>
          <a:ln/>
        </p:spPr>
        <p:txBody>
          <a:bodyPr wrap="square" lIns="0" tIns="0" rIns="0" bIns="0" rtlCol="0" anchor="t"/>
          <a:lstStyle/>
          <a:p>
            <a:pPr marL="0" indent="0">
              <a:lnSpc>
                <a:spcPts val="2850"/>
              </a:lnSpc>
              <a:buNone/>
            </a:pPr>
            <a:r>
              <a:rPr lang="en-US" sz="1750" dirty="0">
                <a:solidFill>
                  <a:srgbClr val="272525"/>
                </a:solidFill>
                <a:latin typeface="Inter" pitchFamily="34" charset="0"/>
                <a:ea typeface="Inter" pitchFamily="34" charset="-122"/>
                <a:cs typeface="Inter" pitchFamily="34" charset="-120"/>
              </a:rPr>
              <a:t>Calculate Distance, Cluster Users</a:t>
            </a:r>
            <a:endParaRPr lang="en-US" sz="1750" dirty="0"/>
          </a:p>
        </p:txBody>
      </p:sp>
      <p:pic>
        <p:nvPicPr>
          <p:cNvPr id="27" name="Picture 26">
            <a:extLst>
              <a:ext uri="{FF2B5EF4-FFF2-40B4-BE49-F238E27FC236}">
                <a16:creationId xmlns:a16="http://schemas.microsoft.com/office/drawing/2014/main" id="{CAC4540D-EF63-F04B-17C8-464E1DEB5DB1}"/>
              </a:ext>
            </a:extLst>
          </p:cNvPr>
          <p:cNvPicPr>
            <a:picLocks noChangeAspect="1"/>
          </p:cNvPicPr>
          <p:nvPr/>
        </p:nvPicPr>
        <p:blipFill>
          <a:blip r:embed="rId4"/>
          <a:stretch>
            <a:fillRect/>
          </a:stretch>
        </p:blipFill>
        <p:spPr>
          <a:xfrm>
            <a:off x="10560966" y="7599998"/>
            <a:ext cx="4069433" cy="561526"/>
          </a:xfrm>
          <a:prstGeom prst="rect">
            <a:avLst/>
          </a:prstGeom>
        </p:spPr>
      </p:pic>
    </p:spTree>
    <p:extLst>
      <p:ext uri="{BB962C8B-B14F-4D97-AF65-F5344CB8AC3E}">
        <p14:creationId xmlns:p14="http://schemas.microsoft.com/office/powerpoint/2010/main" val="3916293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74081"/>
            <a:ext cx="4068813" cy="897493"/>
          </a:xfrm>
          <a:prstGeom prst="rect">
            <a:avLst/>
          </a:prstGeom>
          <a:noFill/>
          <a:ln/>
        </p:spPr>
        <p:txBody>
          <a:bodyPr wrap="none" lIns="0" tIns="0" rIns="0" bIns="0" rtlCol="0" anchor="t"/>
          <a:lstStyle/>
          <a:p>
            <a:pPr marL="0" indent="0">
              <a:lnSpc>
                <a:spcPts val="4900"/>
              </a:lnSpc>
              <a:buNone/>
            </a:pPr>
            <a:r>
              <a:rPr lang="en-US" sz="3950" b="1" dirty="0">
                <a:solidFill>
                  <a:srgbClr val="000000"/>
                </a:solidFill>
                <a:latin typeface="Petrona" pitchFamily="34" charset="0"/>
                <a:ea typeface="Petrona" pitchFamily="34" charset="-122"/>
                <a:cs typeface="Petrona" pitchFamily="34" charset="-120"/>
              </a:rPr>
              <a:t>Methodology and Architecture or </a:t>
            </a:r>
          </a:p>
          <a:p>
            <a:pPr marL="0" indent="0">
              <a:lnSpc>
                <a:spcPts val="4900"/>
              </a:lnSpc>
              <a:buNone/>
            </a:pPr>
            <a:r>
              <a:rPr lang="en-US" sz="3950" b="1" dirty="0">
                <a:solidFill>
                  <a:srgbClr val="000000"/>
                </a:solidFill>
                <a:latin typeface="Petrona" pitchFamily="34" charset="0"/>
                <a:ea typeface="Petrona" pitchFamily="34" charset="-122"/>
                <a:cs typeface="Petrona" pitchFamily="34" charset="-120"/>
              </a:rPr>
              <a:t>Implementation</a:t>
            </a:r>
            <a:endParaRPr lang="en-US" sz="3950" dirty="0"/>
          </a:p>
        </p:txBody>
      </p:sp>
      <p:sp>
        <p:nvSpPr>
          <p:cNvPr id="4" name="Text 1"/>
          <p:cNvSpPr/>
          <p:nvPr/>
        </p:nvSpPr>
        <p:spPr>
          <a:xfrm>
            <a:off x="837724" y="1556623"/>
            <a:ext cx="7468553" cy="1148715"/>
          </a:xfrm>
          <a:prstGeom prst="rect">
            <a:avLst/>
          </a:prstGeom>
          <a:noFill/>
          <a:ln/>
        </p:spPr>
        <p:txBody>
          <a:bodyPr wrap="square" lIns="0" tIns="0" rIns="0" bIns="0" rtlCol="0" anchor="t"/>
          <a:lstStyle/>
          <a:p>
            <a:pPr marL="0" indent="0">
              <a:lnSpc>
                <a:spcPts val="3000"/>
              </a:lnSpc>
              <a:buNone/>
            </a:pPr>
            <a:r>
              <a:rPr lang="en-US" sz="1850" dirty="0">
                <a:solidFill>
                  <a:srgbClr val="272525"/>
                </a:solidFill>
                <a:latin typeface="Inter" pitchFamily="34" charset="0"/>
                <a:ea typeface="Inter" pitchFamily="34" charset="-122"/>
                <a:cs typeface="Inter" pitchFamily="34" charset="-120"/>
              </a:rPr>
              <a:t>A novel multi-modal unsupervised method-MMD-is proposed to detect professional malicious users with the modified RNN and attention metric learning based clustering.</a:t>
            </a:r>
            <a:endParaRPr lang="en-US" sz="1850" dirty="0"/>
          </a:p>
        </p:txBody>
      </p:sp>
      <p:sp>
        <p:nvSpPr>
          <p:cNvPr id="5" name="Shape 2"/>
          <p:cNvSpPr/>
          <p:nvPr/>
        </p:nvSpPr>
        <p:spPr>
          <a:xfrm>
            <a:off x="1181457" y="2974538"/>
            <a:ext cx="30480" cy="4595813"/>
          </a:xfrm>
          <a:prstGeom prst="roundRect">
            <a:avLst>
              <a:gd name="adj" fmla="val 329817"/>
            </a:avLst>
          </a:prstGeom>
          <a:solidFill>
            <a:srgbClr val="B2D4E5"/>
          </a:solidFill>
          <a:ln/>
        </p:spPr>
      </p:sp>
      <p:sp>
        <p:nvSpPr>
          <p:cNvPr id="6" name="Shape 3"/>
          <p:cNvSpPr/>
          <p:nvPr/>
        </p:nvSpPr>
        <p:spPr>
          <a:xfrm>
            <a:off x="1435477" y="3497699"/>
            <a:ext cx="837724" cy="30480"/>
          </a:xfrm>
          <a:prstGeom prst="roundRect">
            <a:avLst>
              <a:gd name="adj" fmla="val 329817"/>
            </a:avLst>
          </a:prstGeom>
          <a:solidFill>
            <a:srgbClr val="B2D4E5"/>
          </a:solidFill>
          <a:ln/>
        </p:spPr>
      </p:sp>
      <p:sp>
        <p:nvSpPr>
          <p:cNvPr id="7" name="Shape 4"/>
          <p:cNvSpPr/>
          <p:nvPr/>
        </p:nvSpPr>
        <p:spPr>
          <a:xfrm>
            <a:off x="927437" y="3243739"/>
            <a:ext cx="538520" cy="538520"/>
          </a:xfrm>
          <a:prstGeom prst="roundRect">
            <a:avLst>
              <a:gd name="adj" fmla="val 18668"/>
            </a:avLst>
          </a:prstGeom>
          <a:solidFill>
            <a:srgbClr val="CCEEFF"/>
          </a:solidFill>
          <a:ln w="7620">
            <a:solidFill>
              <a:srgbClr val="B2D4E5"/>
            </a:solidFill>
            <a:prstDash val="solid"/>
          </a:ln>
        </p:spPr>
      </p:sp>
      <p:sp>
        <p:nvSpPr>
          <p:cNvPr id="8" name="Text 5"/>
          <p:cNvSpPr/>
          <p:nvPr/>
        </p:nvSpPr>
        <p:spPr>
          <a:xfrm>
            <a:off x="1115913" y="3324463"/>
            <a:ext cx="161449" cy="376952"/>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1</a:t>
            </a:r>
            <a:endParaRPr lang="en-US" sz="2950" dirty="0"/>
          </a:p>
        </p:txBody>
      </p:sp>
      <p:sp>
        <p:nvSpPr>
          <p:cNvPr id="9" name="Text 6"/>
          <p:cNvSpPr/>
          <p:nvPr/>
        </p:nvSpPr>
        <p:spPr>
          <a:xfrm>
            <a:off x="2513052" y="3213854"/>
            <a:ext cx="3141464" cy="392668"/>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Modified RNN</a:t>
            </a:r>
            <a:endParaRPr lang="en-US" sz="2450" dirty="0"/>
          </a:p>
        </p:txBody>
      </p:sp>
      <p:sp>
        <p:nvSpPr>
          <p:cNvPr id="10" name="Shape 7"/>
          <p:cNvSpPr/>
          <p:nvPr/>
        </p:nvSpPr>
        <p:spPr>
          <a:xfrm>
            <a:off x="1435477" y="4608314"/>
            <a:ext cx="837724" cy="30480"/>
          </a:xfrm>
          <a:prstGeom prst="roundRect">
            <a:avLst>
              <a:gd name="adj" fmla="val 329817"/>
            </a:avLst>
          </a:prstGeom>
          <a:solidFill>
            <a:srgbClr val="B2D4E5"/>
          </a:solidFill>
          <a:ln/>
        </p:spPr>
      </p:sp>
      <p:sp>
        <p:nvSpPr>
          <p:cNvPr id="11" name="Shape 8"/>
          <p:cNvSpPr/>
          <p:nvPr/>
        </p:nvSpPr>
        <p:spPr>
          <a:xfrm>
            <a:off x="927437" y="4354354"/>
            <a:ext cx="538520" cy="538520"/>
          </a:xfrm>
          <a:prstGeom prst="roundRect">
            <a:avLst>
              <a:gd name="adj" fmla="val 18668"/>
            </a:avLst>
          </a:prstGeom>
          <a:solidFill>
            <a:srgbClr val="CCEEFF"/>
          </a:solidFill>
          <a:ln w="7620">
            <a:solidFill>
              <a:srgbClr val="B2D4E5"/>
            </a:solidFill>
            <a:prstDash val="solid"/>
          </a:ln>
        </p:spPr>
      </p:sp>
      <p:sp>
        <p:nvSpPr>
          <p:cNvPr id="12" name="Text 9"/>
          <p:cNvSpPr/>
          <p:nvPr/>
        </p:nvSpPr>
        <p:spPr>
          <a:xfrm>
            <a:off x="1089720" y="4435078"/>
            <a:ext cx="213836" cy="376952"/>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2</a:t>
            </a:r>
            <a:endParaRPr lang="en-US" sz="2950" dirty="0"/>
          </a:p>
        </p:txBody>
      </p:sp>
      <p:sp>
        <p:nvSpPr>
          <p:cNvPr id="13" name="Text 10"/>
          <p:cNvSpPr/>
          <p:nvPr/>
        </p:nvSpPr>
        <p:spPr>
          <a:xfrm>
            <a:off x="2513052" y="4324469"/>
            <a:ext cx="5793224" cy="785336"/>
          </a:xfrm>
          <a:prstGeom prst="rect">
            <a:avLst/>
          </a:prstGeom>
          <a:noFill/>
          <a:ln/>
        </p:spPr>
        <p:txBody>
          <a:bodyPr wrap="squar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Professional Malicious User Profiling (MUP)</a:t>
            </a:r>
            <a:endParaRPr lang="en-US" sz="2450" dirty="0"/>
          </a:p>
        </p:txBody>
      </p:sp>
      <p:sp>
        <p:nvSpPr>
          <p:cNvPr id="14" name="Shape 11"/>
          <p:cNvSpPr/>
          <p:nvPr/>
        </p:nvSpPr>
        <p:spPr>
          <a:xfrm>
            <a:off x="1435477" y="6111597"/>
            <a:ext cx="837724" cy="30480"/>
          </a:xfrm>
          <a:prstGeom prst="roundRect">
            <a:avLst>
              <a:gd name="adj" fmla="val 329817"/>
            </a:avLst>
          </a:prstGeom>
          <a:solidFill>
            <a:srgbClr val="B2D4E5"/>
          </a:solidFill>
          <a:ln/>
        </p:spPr>
      </p:sp>
      <p:sp>
        <p:nvSpPr>
          <p:cNvPr id="15" name="Shape 12"/>
          <p:cNvSpPr/>
          <p:nvPr/>
        </p:nvSpPr>
        <p:spPr>
          <a:xfrm>
            <a:off x="927437" y="5857637"/>
            <a:ext cx="538520" cy="538520"/>
          </a:xfrm>
          <a:prstGeom prst="roundRect">
            <a:avLst>
              <a:gd name="adj" fmla="val 18668"/>
            </a:avLst>
          </a:prstGeom>
          <a:solidFill>
            <a:srgbClr val="CCEEFF"/>
          </a:solidFill>
          <a:ln w="7620">
            <a:solidFill>
              <a:srgbClr val="B2D4E5"/>
            </a:solidFill>
            <a:prstDash val="solid"/>
          </a:ln>
        </p:spPr>
      </p:sp>
      <p:sp>
        <p:nvSpPr>
          <p:cNvPr id="16" name="Text 13"/>
          <p:cNvSpPr/>
          <p:nvPr/>
        </p:nvSpPr>
        <p:spPr>
          <a:xfrm>
            <a:off x="1089958" y="5938361"/>
            <a:ext cx="213360" cy="376952"/>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3</a:t>
            </a:r>
            <a:endParaRPr lang="en-US" sz="2950" dirty="0"/>
          </a:p>
        </p:txBody>
      </p:sp>
      <p:sp>
        <p:nvSpPr>
          <p:cNvPr id="17" name="Text 14"/>
          <p:cNvSpPr/>
          <p:nvPr/>
        </p:nvSpPr>
        <p:spPr>
          <a:xfrm>
            <a:off x="2513052" y="5827752"/>
            <a:ext cx="4866203" cy="392668"/>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Metric Learning-based Clustering</a:t>
            </a:r>
            <a:endParaRPr lang="en-US" sz="2450" dirty="0"/>
          </a:p>
        </p:txBody>
      </p:sp>
      <p:sp>
        <p:nvSpPr>
          <p:cNvPr id="18" name="Shape 15"/>
          <p:cNvSpPr/>
          <p:nvPr/>
        </p:nvSpPr>
        <p:spPr>
          <a:xfrm>
            <a:off x="1435477" y="7222212"/>
            <a:ext cx="837724" cy="30480"/>
          </a:xfrm>
          <a:prstGeom prst="roundRect">
            <a:avLst>
              <a:gd name="adj" fmla="val 329817"/>
            </a:avLst>
          </a:prstGeom>
          <a:solidFill>
            <a:srgbClr val="B2D4E5"/>
          </a:solidFill>
          <a:ln/>
        </p:spPr>
      </p:sp>
      <p:sp>
        <p:nvSpPr>
          <p:cNvPr id="19" name="Shape 16"/>
          <p:cNvSpPr/>
          <p:nvPr/>
        </p:nvSpPr>
        <p:spPr>
          <a:xfrm>
            <a:off x="927437" y="6968252"/>
            <a:ext cx="538520" cy="538520"/>
          </a:xfrm>
          <a:prstGeom prst="roundRect">
            <a:avLst>
              <a:gd name="adj" fmla="val 18668"/>
            </a:avLst>
          </a:prstGeom>
          <a:solidFill>
            <a:srgbClr val="CCEEFF"/>
          </a:solidFill>
          <a:ln w="7620">
            <a:solidFill>
              <a:srgbClr val="B2D4E5"/>
            </a:solidFill>
            <a:prstDash val="solid"/>
          </a:ln>
        </p:spPr>
      </p:sp>
      <p:sp>
        <p:nvSpPr>
          <p:cNvPr id="20" name="Text 17"/>
          <p:cNvSpPr/>
          <p:nvPr/>
        </p:nvSpPr>
        <p:spPr>
          <a:xfrm>
            <a:off x="1095077" y="7048976"/>
            <a:ext cx="203240" cy="376952"/>
          </a:xfrm>
          <a:prstGeom prst="rect">
            <a:avLst/>
          </a:prstGeom>
          <a:noFill/>
          <a:ln/>
        </p:spPr>
        <p:txBody>
          <a:bodyPr wrap="none" lIns="0" tIns="0" rIns="0" bIns="0" rtlCol="0" anchor="t"/>
          <a:lstStyle/>
          <a:p>
            <a:pPr marL="0" indent="0" algn="ctr">
              <a:lnSpc>
                <a:spcPts val="2950"/>
              </a:lnSpc>
              <a:buNone/>
            </a:pPr>
            <a:r>
              <a:rPr lang="en-US" sz="2950" b="1" dirty="0">
                <a:solidFill>
                  <a:srgbClr val="272525"/>
                </a:solidFill>
                <a:latin typeface="Petrona" pitchFamily="34" charset="0"/>
                <a:ea typeface="Petrona" pitchFamily="34" charset="-122"/>
                <a:cs typeface="Petrona" pitchFamily="34" charset="-120"/>
              </a:rPr>
              <a:t>4</a:t>
            </a:r>
            <a:endParaRPr lang="en-US" sz="2950" dirty="0"/>
          </a:p>
        </p:txBody>
      </p:sp>
      <p:sp>
        <p:nvSpPr>
          <p:cNvPr id="21" name="Text 18"/>
          <p:cNvSpPr/>
          <p:nvPr/>
        </p:nvSpPr>
        <p:spPr>
          <a:xfrm>
            <a:off x="2513052" y="6938367"/>
            <a:ext cx="3142178" cy="392668"/>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pitchFamily="34" charset="0"/>
                <a:ea typeface="Petrona" pitchFamily="34" charset="-122"/>
                <a:cs typeface="Petrona" pitchFamily="34" charset="-120"/>
              </a:rPr>
              <a:t>Attention Mechanism</a:t>
            </a:r>
            <a:endParaRPr lang="en-US" sz="2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88488" y="2981562"/>
            <a:ext cx="4909304" cy="3619959"/>
          </a:xfrm>
          <a:prstGeom prst="rect">
            <a:avLst/>
          </a:prstGeom>
        </p:spPr>
      </p:pic>
      <p:sp>
        <p:nvSpPr>
          <p:cNvPr id="4" name="Text 0"/>
          <p:cNvSpPr/>
          <p:nvPr/>
        </p:nvSpPr>
        <p:spPr>
          <a:xfrm>
            <a:off x="6294358" y="636627"/>
            <a:ext cx="4847868" cy="606028"/>
          </a:xfrm>
          <a:prstGeom prst="rect">
            <a:avLst/>
          </a:prstGeom>
          <a:noFill/>
          <a:ln/>
        </p:spPr>
        <p:txBody>
          <a:bodyPr wrap="none" lIns="0" tIns="0" rIns="0" bIns="0" rtlCol="0" anchor="t"/>
          <a:lstStyle/>
          <a:p>
            <a:pPr marL="0" indent="0">
              <a:lnSpc>
                <a:spcPts val="4750"/>
              </a:lnSpc>
              <a:buNone/>
            </a:pPr>
            <a:r>
              <a:rPr lang="en-US" sz="3800" b="1" dirty="0">
                <a:solidFill>
                  <a:srgbClr val="000000"/>
                </a:solidFill>
                <a:latin typeface="Petrona" pitchFamily="34" charset="0"/>
                <a:ea typeface="Petrona" pitchFamily="34" charset="-122"/>
                <a:cs typeface="Petrona" pitchFamily="34" charset="-120"/>
              </a:rPr>
              <a:t>Result</a:t>
            </a:r>
            <a:endParaRPr lang="en-US" sz="3800" dirty="0"/>
          </a:p>
        </p:txBody>
      </p:sp>
      <p:sp>
        <p:nvSpPr>
          <p:cNvPr id="5" name="Text 1"/>
          <p:cNvSpPr/>
          <p:nvPr/>
        </p:nvSpPr>
        <p:spPr>
          <a:xfrm>
            <a:off x="6294358" y="1502331"/>
            <a:ext cx="7528084" cy="886182"/>
          </a:xfrm>
          <a:prstGeom prst="rect">
            <a:avLst/>
          </a:prstGeom>
          <a:noFill/>
          <a:ln/>
        </p:spPr>
        <p:txBody>
          <a:bodyPr wrap="square" lIns="0" tIns="0" rIns="0" bIns="0" rtlCol="0" anchor="t"/>
          <a:lstStyle/>
          <a:p>
            <a:pPr marL="0" indent="0">
              <a:lnSpc>
                <a:spcPts val="2300"/>
              </a:lnSpc>
              <a:buNone/>
            </a:pPr>
            <a:r>
              <a:rPr lang="en-US" sz="1450" dirty="0">
                <a:solidFill>
                  <a:srgbClr val="272525"/>
                </a:solidFill>
                <a:latin typeface="Inter" pitchFamily="34" charset="0"/>
                <a:ea typeface="Inter" pitchFamily="34" charset="-122"/>
                <a:cs typeface="Inter" pitchFamily="34" charset="-120"/>
              </a:rPr>
              <a:t>Extensive experiments are conducted on four real world e-commerce datasets to verify our proposed method. Moreover, by filtering professional malicious users, some state-of-the-art models are enhanced.</a:t>
            </a:r>
            <a:endParaRPr lang="en-US" sz="1450" dirty="0"/>
          </a:p>
        </p:txBody>
      </p:sp>
      <p:pic>
        <p:nvPicPr>
          <p:cNvPr id="6" name="Image 2" descr="preencoded.png"/>
          <p:cNvPicPr>
            <a:picLocks noChangeAspect="1"/>
          </p:cNvPicPr>
          <p:nvPr/>
        </p:nvPicPr>
        <p:blipFill>
          <a:blip r:embed="rId5"/>
          <a:stretch>
            <a:fillRect/>
          </a:stretch>
        </p:blipFill>
        <p:spPr>
          <a:xfrm>
            <a:off x="6294358" y="2648188"/>
            <a:ext cx="577096" cy="577096"/>
          </a:xfrm>
          <a:prstGeom prst="rect">
            <a:avLst/>
          </a:prstGeom>
        </p:spPr>
      </p:pic>
      <p:sp>
        <p:nvSpPr>
          <p:cNvPr id="7" name="Text 2"/>
          <p:cNvSpPr/>
          <p:nvPr/>
        </p:nvSpPr>
        <p:spPr>
          <a:xfrm>
            <a:off x="6294358" y="3456027"/>
            <a:ext cx="3029903" cy="378738"/>
          </a:xfrm>
          <a:prstGeom prst="rect">
            <a:avLst/>
          </a:prstGeom>
          <a:noFill/>
          <a:ln/>
        </p:spPr>
        <p:txBody>
          <a:bodyPr wrap="none" lIns="0" tIns="0" rIns="0" bIns="0" rtlCol="0" anchor="t"/>
          <a:lstStyle/>
          <a:p>
            <a:pPr marL="0" indent="0" algn="l">
              <a:lnSpc>
                <a:spcPts val="2950"/>
              </a:lnSpc>
              <a:buNone/>
            </a:pPr>
            <a:r>
              <a:rPr lang="en-US" sz="2350" b="1" dirty="0">
                <a:solidFill>
                  <a:srgbClr val="272525"/>
                </a:solidFill>
                <a:latin typeface="Petrona" pitchFamily="34" charset="0"/>
                <a:ea typeface="Petrona" pitchFamily="34" charset="-122"/>
                <a:cs typeface="Petrona" pitchFamily="34" charset="-120"/>
              </a:rPr>
              <a:t>Accuracy</a:t>
            </a:r>
            <a:endParaRPr lang="en-US" sz="2350" dirty="0"/>
          </a:p>
        </p:txBody>
      </p:sp>
      <p:pic>
        <p:nvPicPr>
          <p:cNvPr id="8" name="Image 3" descr="preencoded.png"/>
          <p:cNvPicPr>
            <a:picLocks noChangeAspect="1"/>
          </p:cNvPicPr>
          <p:nvPr/>
        </p:nvPicPr>
        <p:blipFill>
          <a:blip r:embed="rId6"/>
          <a:stretch>
            <a:fillRect/>
          </a:stretch>
        </p:blipFill>
        <p:spPr>
          <a:xfrm>
            <a:off x="6294358" y="4527233"/>
            <a:ext cx="577096" cy="577096"/>
          </a:xfrm>
          <a:prstGeom prst="rect">
            <a:avLst/>
          </a:prstGeom>
        </p:spPr>
      </p:pic>
      <p:sp>
        <p:nvSpPr>
          <p:cNvPr id="9" name="Text 3"/>
          <p:cNvSpPr/>
          <p:nvPr/>
        </p:nvSpPr>
        <p:spPr>
          <a:xfrm>
            <a:off x="6294358" y="5335072"/>
            <a:ext cx="3751778" cy="378738"/>
          </a:xfrm>
          <a:prstGeom prst="rect">
            <a:avLst/>
          </a:prstGeom>
          <a:noFill/>
          <a:ln/>
        </p:spPr>
        <p:txBody>
          <a:bodyPr wrap="none" lIns="0" tIns="0" rIns="0" bIns="0" rtlCol="0" anchor="t"/>
          <a:lstStyle/>
          <a:p>
            <a:pPr marL="0" indent="0" algn="l">
              <a:lnSpc>
                <a:spcPts val="2950"/>
              </a:lnSpc>
              <a:buNone/>
            </a:pPr>
            <a:r>
              <a:rPr lang="en-US" sz="2350" b="1" dirty="0">
                <a:solidFill>
                  <a:srgbClr val="272525"/>
                </a:solidFill>
                <a:latin typeface="Petrona" pitchFamily="34" charset="0"/>
                <a:ea typeface="Petrona" pitchFamily="34" charset="-122"/>
                <a:cs typeface="Petrona" pitchFamily="34" charset="-120"/>
              </a:rPr>
              <a:t>Performance Improvement</a:t>
            </a:r>
            <a:endParaRPr lang="en-US" sz="2350" dirty="0"/>
          </a:p>
        </p:txBody>
      </p:sp>
      <p:pic>
        <p:nvPicPr>
          <p:cNvPr id="10" name="Image 4" descr="preencoded.png"/>
          <p:cNvPicPr>
            <a:picLocks noChangeAspect="1"/>
          </p:cNvPicPr>
          <p:nvPr/>
        </p:nvPicPr>
        <p:blipFill>
          <a:blip r:embed="rId7"/>
          <a:stretch>
            <a:fillRect/>
          </a:stretch>
        </p:blipFill>
        <p:spPr>
          <a:xfrm>
            <a:off x="6294358" y="6406277"/>
            <a:ext cx="577096" cy="577096"/>
          </a:xfrm>
          <a:prstGeom prst="rect">
            <a:avLst/>
          </a:prstGeom>
        </p:spPr>
      </p:pic>
      <p:sp>
        <p:nvSpPr>
          <p:cNvPr id="11" name="Text 4"/>
          <p:cNvSpPr/>
          <p:nvPr/>
        </p:nvSpPr>
        <p:spPr>
          <a:xfrm>
            <a:off x="6294358" y="7214116"/>
            <a:ext cx="3029903" cy="378738"/>
          </a:xfrm>
          <a:prstGeom prst="rect">
            <a:avLst/>
          </a:prstGeom>
          <a:noFill/>
          <a:ln/>
        </p:spPr>
        <p:txBody>
          <a:bodyPr wrap="none" lIns="0" tIns="0" rIns="0" bIns="0" rtlCol="0" anchor="t"/>
          <a:lstStyle/>
          <a:p>
            <a:pPr marL="0" indent="0" algn="l">
              <a:lnSpc>
                <a:spcPts val="2950"/>
              </a:lnSpc>
              <a:buNone/>
            </a:pPr>
            <a:r>
              <a:rPr lang="en-US" sz="2350" b="1" dirty="0">
                <a:solidFill>
                  <a:srgbClr val="272525"/>
                </a:solidFill>
                <a:latin typeface="Petrona" pitchFamily="34" charset="0"/>
                <a:ea typeface="Petrona" pitchFamily="34" charset="-122"/>
                <a:cs typeface="Petrona" pitchFamily="34" charset="-120"/>
              </a:rPr>
              <a:t>Robustness</a:t>
            </a:r>
            <a:endParaRPr lang="en-US" sz="2350" dirty="0"/>
          </a:p>
        </p:txBody>
      </p:sp>
      <p:pic>
        <p:nvPicPr>
          <p:cNvPr id="13" name="Picture 12">
            <a:extLst>
              <a:ext uri="{FF2B5EF4-FFF2-40B4-BE49-F238E27FC236}">
                <a16:creationId xmlns:a16="http://schemas.microsoft.com/office/drawing/2014/main" id="{6DFAE2F6-9CB5-D9CB-0D68-A7557D4D758D}"/>
              </a:ext>
            </a:extLst>
          </p:cNvPr>
          <p:cNvPicPr>
            <a:picLocks noChangeAspect="1"/>
          </p:cNvPicPr>
          <p:nvPr/>
        </p:nvPicPr>
        <p:blipFill>
          <a:blip r:embed="rId8"/>
          <a:stretch>
            <a:fillRect/>
          </a:stretch>
        </p:blipFill>
        <p:spPr>
          <a:xfrm>
            <a:off x="10560967" y="7592854"/>
            <a:ext cx="4069433" cy="6248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1665446"/>
            <a:ext cx="6480810" cy="809982"/>
          </a:xfrm>
          <a:prstGeom prst="rect">
            <a:avLst/>
          </a:prstGeom>
          <a:noFill/>
          <a:ln/>
        </p:spPr>
        <p:txBody>
          <a:bodyPr wrap="none" lIns="0" tIns="0" rIns="0" bIns="0" rtlCol="0" anchor="t"/>
          <a:lstStyle/>
          <a:p>
            <a:pPr marL="0" indent="0">
              <a:lnSpc>
                <a:spcPts val="6350"/>
              </a:lnSpc>
              <a:buNone/>
            </a:pPr>
            <a:endParaRPr lang="en-US" sz="5100" dirty="0"/>
          </a:p>
        </p:txBody>
      </p:sp>
      <p:pic>
        <p:nvPicPr>
          <p:cNvPr id="3" name="Image 0" descr="preencoded.png"/>
          <p:cNvPicPr>
            <a:picLocks noChangeAspect="1"/>
          </p:cNvPicPr>
          <p:nvPr/>
        </p:nvPicPr>
        <p:blipFill>
          <a:blip r:embed="rId3"/>
          <a:stretch>
            <a:fillRect/>
          </a:stretch>
        </p:blipFill>
        <p:spPr>
          <a:xfrm>
            <a:off x="351081" y="1533810"/>
            <a:ext cx="6964119" cy="4541557"/>
          </a:xfrm>
          <a:prstGeom prst="rect">
            <a:avLst/>
          </a:prstGeom>
        </p:spPr>
      </p:pic>
      <p:sp>
        <p:nvSpPr>
          <p:cNvPr id="4" name="Text 1"/>
          <p:cNvSpPr/>
          <p:nvPr/>
        </p:nvSpPr>
        <p:spPr>
          <a:xfrm>
            <a:off x="2813447" y="6249745"/>
            <a:ext cx="3240405" cy="405051"/>
          </a:xfrm>
          <a:prstGeom prst="rect">
            <a:avLst/>
          </a:prstGeom>
          <a:noFill/>
          <a:ln/>
        </p:spPr>
        <p:txBody>
          <a:bodyPr wrap="none" lIns="0" tIns="0" rIns="0" bIns="0" rtlCol="0" anchor="t"/>
          <a:lstStyle/>
          <a:p>
            <a:pPr marL="0" indent="0">
              <a:lnSpc>
                <a:spcPts val="3150"/>
              </a:lnSpc>
              <a:buNone/>
            </a:pPr>
            <a:r>
              <a:rPr lang="en-US" sz="2550" b="1" dirty="0">
                <a:solidFill>
                  <a:srgbClr val="000000"/>
                </a:solidFill>
                <a:latin typeface="Petrona" pitchFamily="34" charset="0"/>
                <a:ea typeface="Petrona" pitchFamily="34" charset="-122"/>
                <a:cs typeface="Petrona" pitchFamily="34" charset="-120"/>
              </a:rPr>
              <a:t>Home Page</a:t>
            </a:r>
            <a:endParaRPr lang="en-US" sz="2550" dirty="0"/>
          </a:p>
        </p:txBody>
      </p:sp>
      <p:sp>
        <p:nvSpPr>
          <p:cNvPr id="5" name="Text 2"/>
          <p:cNvSpPr/>
          <p:nvPr/>
        </p:nvSpPr>
        <p:spPr>
          <a:xfrm>
            <a:off x="864037" y="5674876"/>
            <a:ext cx="3898821" cy="395049"/>
          </a:xfrm>
          <a:prstGeom prst="rect">
            <a:avLst/>
          </a:prstGeom>
          <a:noFill/>
          <a:ln/>
        </p:spPr>
        <p:txBody>
          <a:bodyPr wrap="none" lIns="0" tIns="0" rIns="0" bIns="0" rtlCol="0" anchor="t"/>
          <a:lstStyle/>
          <a:p>
            <a:pPr marL="0" indent="0">
              <a:lnSpc>
                <a:spcPts val="3100"/>
              </a:lnSpc>
              <a:buNone/>
            </a:pPr>
            <a:endParaRPr lang="en-US" sz="1900" dirty="0"/>
          </a:p>
        </p:txBody>
      </p:sp>
      <p:pic>
        <p:nvPicPr>
          <p:cNvPr id="6" name="Image 1" descr="preencoded.png"/>
          <p:cNvPicPr>
            <a:picLocks noChangeAspect="1"/>
          </p:cNvPicPr>
          <p:nvPr/>
        </p:nvPicPr>
        <p:blipFill>
          <a:blip r:embed="rId4"/>
          <a:stretch>
            <a:fillRect/>
          </a:stretch>
        </p:blipFill>
        <p:spPr>
          <a:xfrm>
            <a:off x="7627434" y="1533810"/>
            <a:ext cx="6651885" cy="4536115"/>
          </a:xfrm>
          <a:prstGeom prst="rect">
            <a:avLst/>
          </a:prstGeom>
        </p:spPr>
      </p:pic>
      <p:sp>
        <p:nvSpPr>
          <p:cNvPr id="8" name="Text 4"/>
          <p:cNvSpPr/>
          <p:nvPr/>
        </p:nvSpPr>
        <p:spPr>
          <a:xfrm>
            <a:off x="5372695" y="5946815"/>
            <a:ext cx="3898821" cy="395049"/>
          </a:xfrm>
          <a:prstGeom prst="rect">
            <a:avLst/>
          </a:prstGeom>
          <a:noFill/>
          <a:ln/>
        </p:spPr>
        <p:txBody>
          <a:bodyPr wrap="none" lIns="0" tIns="0" rIns="0" bIns="0" rtlCol="0" anchor="t"/>
          <a:lstStyle/>
          <a:p>
            <a:pPr marL="0" indent="0">
              <a:lnSpc>
                <a:spcPts val="3100"/>
              </a:lnSpc>
              <a:buNone/>
            </a:pPr>
            <a:endParaRPr lang="en-US" sz="1900" dirty="0"/>
          </a:p>
        </p:txBody>
      </p:sp>
      <p:sp>
        <p:nvSpPr>
          <p:cNvPr id="10" name="Text 5"/>
          <p:cNvSpPr/>
          <p:nvPr/>
        </p:nvSpPr>
        <p:spPr>
          <a:xfrm>
            <a:off x="9881354" y="6341864"/>
            <a:ext cx="3240405" cy="625865"/>
          </a:xfrm>
          <a:prstGeom prst="rect">
            <a:avLst/>
          </a:prstGeom>
          <a:noFill/>
          <a:ln/>
        </p:spPr>
        <p:txBody>
          <a:bodyPr wrap="none" lIns="0" tIns="0" rIns="0" bIns="0" rtlCol="0" anchor="t"/>
          <a:lstStyle/>
          <a:p>
            <a:pPr marL="0" indent="0">
              <a:lnSpc>
                <a:spcPts val="3150"/>
              </a:lnSpc>
              <a:buNone/>
            </a:pPr>
            <a:r>
              <a:rPr lang="en-US" sz="2550" b="1" dirty="0">
                <a:solidFill>
                  <a:srgbClr val="000000"/>
                </a:solidFill>
                <a:latin typeface="Petrona" pitchFamily="34" charset="0"/>
              </a:rPr>
              <a:t>Remote User</a:t>
            </a:r>
            <a:endParaRPr lang="en-US" sz="2550" dirty="0"/>
          </a:p>
        </p:txBody>
      </p:sp>
      <p:sp>
        <p:nvSpPr>
          <p:cNvPr id="11" name="Text 6"/>
          <p:cNvSpPr/>
          <p:nvPr/>
        </p:nvSpPr>
        <p:spPr>
          <a:xfrm>
            <a:off x="9881354" y="5806797"/>
            <a:ext cx="3898821" cy="395049"/>
          </a:xfrm>
          <a:prstGeom prst="rect">
            <a:avLst/>
          </a:prstGeom>
          <a:noFill/>
          <a:ln/>
        </p:spPr>
        <p:txBody>
          <a:bodyPr wrap="none" lIns="0" tIns="0" rIns="0" bIns="0" rtlCol="0" anchor="t"/>
          <a:lstStyle/>
          <a:p>
            <a:pPr marL="0" indent="0">
              <a:lnSpc>
                <a:spcPts val="3100"/>
              </a:lnSpc>
              <a:buNone/>
            </a:pPr>
            <a:endParaRPr lang="en-US" sz="1900" dirty="0"/>
          </a:p>
        </p:txBody>
      </p:sp>
      <p:pic>
        <p:nvPicPr>
          <p:cNvPr id="13" name="Picture 12">
            <a:extLst>
              <a:ext uri="{FF2B5EF4-FFF2-40B4-BE49-F238E27FC236}">
                <a16:creationId xmlns:a16="http://schemas.microsoft.com/office/drawing/2014/main" id="{ECCD98BE-E39D-87AC-9B74-93B3CF85E1B6}"/>
              </a:ext>
            </a:extLst>
          </p:cNvPr>
          <p:cNvPicPr>
            <a:picLocks noChangeAspect="1"/>
          </p:cNvPicPr>
          <p:nvPr/>
        </p:nvPicPr>
        <p:blipFill>
          <a:blip r:embed="rId5"/>
          <a:stretch>
            <a:fillRect/>
          </a:stretch>
        </p:blipFill>
        <p:spPr>
          <a:xfrm>
            <a:off x="10468906" y="7604706"/>
            <a:ext cx="4069433" cy="6248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1665446"/>
            <a:ext cx="6480810" cy="809982"/>
          </a:xfrm>
          <a:prstGeom prst="rect">
            <a:avLst/>
          </a:prstGeom>
          <a:noFill/>
          <a:ln/>
        </p:spPr>
        <p:txBody>
          <a:bodyPr wrap="none" lIns="0" tIns="0" rIns="0" bIns="0" rtlCol="0" anchor="t"/>
          <a:lstStyle/>
          <a:p>
            <a:pPr marL="0" indent="0">
              <a:lnSpc>
                <a:spcPts val="6350"/>
              </a:lnSpc>
              <a:buNone/>
            </a:pPr>
            <a:endParaRPr lang="en-US" sz="5100" dirty="0"/>
          </a:p>
        </p:txBody>
      </p:sp>
      <p:sp>
        <p:nvSpPr>
          <p:cNvPr id="4" name="Text 1"/>
          <p:cNvSpPr/>
          <p:nvPr/>
        </p:nvSpPr>
        <p:spPr>
          <a:xfrm>
            <a:off x="592735" y="6341864"/>
            <a:ext cx="3240405" cy="405051"/>
          </a:xfrm>
          <a:prstGeom prst="rect">
            <a:avLst/>
          </a:prstGeom>
          <a:noFill/>
          <a:ln/>
        </p:spPr>
        <p:txBody>
          <a:bodyPr wrap="none" lIns="0" tIns="0" rIns="0" bIns="0" rtlCol="0" anchor="t"/>
          <a:lstStyle/>
          <a:p>
            <a:pPr marL="0" indent="0">
              <a:lnSpc>
                <a:spcPts val="3150"/>
              </a:lnSpc>
              <a:buNone/>
            </a:pPr>
            <a:endParaRPr lang="en-US" sz="2550" dirty="0"/>
          </a:p>
        </p:txBody>
      </p:sp>
      <p:sp>
        <p:nvSpPr>
          <p:cNvPr id="5" name="Text 2"/>
          <p:cNvSpPr/>
          <p:nvPr/>
        </p:nvSpPr>
        <p:spPr>
          <a:xfrm>
            <a:off x="864037" y="5674876"/>
            <a:ext cx="3898821" cy="395049"/>
          </a:xfrm>
          <a:prstGeom prst="rect">
            <a:avLst/>
          </a:prstGeom>
          <a:noFill/>
          <a:ln/>
        </p:spPr>
        <p:txBody>
          <a:bodyPr wrap="none" lIns="0" tIns="0" rIns="0" bIns="0" rtlCol="0" anchor="t"/>
          <a:lstStyle/>
          <a:p>
            <a:pPr marL="0" indent="0">
              <a:lnSpc>
                <a:spcPts val="3100"/>
              </a:lnSpc>
              <a:buNone/>
            </a:pPr>
            <a:endParaRPr lang="en-US" sz="1900" dirty="0"/>
          </a:p>
        </p:txBody>
      </p:sp>
      <p:sp>
        <p:nvSpPr>
          <p:cNvPr id="7" name="Text 3"/>
          <p:cNvSpPr/>
          <p:nvPr/>
        </p:nvSpPr>
        <p:spPr>
          <a:xfrm>
            <a:off x="8461583" y="6069925"/>
            <a:ext cx="3240405" cy="405051"/>
          </a:xfrm>
          <a:prstGeom prst="rect">
            <a:avLst/>
          </a:prstGeom>
          <a:noFill/>
          <a:ln/>
        </p:spPr>
        <p:txBody>
          <a:bodyPr wrap="none" lIns="0" tIns="0" rIns="0" bIns="0" rtlCol="0" anchor="t"/>
          <a:lstStyle/>
          <a:p>
            <a:r>
              <a:rPr lang="en-US" sz="2400" dirty="0"/>
              <a:t>Trained and Tested Accuracy in Bar Chart</a:t>
            </a:r>
            <a:endParaRPr lang="en-IN" sz="2400" dirty="0"/>
          </a:p>
        </p:txBody>
      </p:sp>
      <p:sp>
        <p:nvSpPr>
          <p:cNvPr id="8" name="Text 4"/>
          <p:cNvSpPr/>
          <p:nvPr/>
        </p:nvSpPr>
        <p:spPr>
          <a:xfrm>
            <a:off x="5372695" y="5946815"/>
            <a:ext cx="3898821" cy="395049"/>
          </a:xfrm>
          <a:prstGeom prst="rect">
            <a:avLst/>
          </a:prstGeom>
          <a:noFill/>
          <a:ln/>
        </p:spPr>
        <p:txBody>
          <a:bodyPr wrap="none" lIns="0" tIns="0" rIns="0" bIns="0" rtlCol="0" anchor="t"/>
          <a:lstStyle/>
          <a:p>
            <a:pPr marL="0" indent="0">
              <a:lnSpc>
                <a:spcPts val="3100"/>
              </a:lnSpc>
              <a:buNone/>
            </a:pPr>
            <a:endParaRPr lang="en-US" sz="1900" dirty="0"/>
          </a:p>
        </p:txBody>
      </p:sp>
      <p:pic>
        <p:nvPicPr>
          <p:cNvPr id="9" name="Image 2" descr="preencoded.png"/>
          <p:cNvPicPr>
            <a:picLocks noChangeAspect="1"/>
          </p:cNvPicPr>
          <p:nvPr/>
        </p:nvPicPr>
        <p:blipFill>
          <a:blip r:embed="rId3"/>
          <a:stretch>
            <a:fillRect/>
          </a:stretch>
        </p:blipFill>
        <p:spPr>
          <a:xfrm>
            <a:off x="7718230" y="1795997"/>
            <a:ext cx="6480810" cy="4076403"/>
          </a:xfrm>
          <a:prstGeom prst="rect">
            <a:avLst/>
          </a:prstGeom>
        </p:spPr>
      </p:pic>
      <p:pic>
        <p:nvPicPr>
          <p:cNvPr id="13" name="Picture 12">
            <a:extLst>
              <a:ext uri="{FF2B5EF4-FFF2-40B4-BE49-F238E27FC236}">
                <a16:creationId xmlns:a16="http://schemas.microsoft.com/office/drawing/2014/main" id="{ECCD98BE-E39D-87AC-9B74-93B3CF85E1B6}"/>
              </a:ext>
            </a:extLst>
          </p:cNvPr>
          <p:cNvPicPr>
            <a:picLocks noChangeAspect="1"/>
          </p:cNvPicPr>
          <p:nvPr/>
        </p:nvPicPr>
        <p:blipFill>
          <a:blip r:embed="rId4"/>
          <a:stretch>
            <a:fillRect/>
          </a:stretch>
        </p:blipFill>
        <p:spPr>
          <a:xfrm>
            <a:off x="10468906" y="7604706"/>
            <a:ext cx="4069433" cy="624894"/>
          </a:xfrm>
          <a:prstGeom prst="rect">
            <a:avLst/>
          </a:prstGeom>
        </p:spPr>
      </p:pic>
      <p:pic>
        <p:nvPicPr>
          <p:cNvPr id="15" name="Picture 14">
            <a:extLst>
              <a:ext uri="{FF2B5EF4-FFF2-40B4-BE49-F238E27FC236}">
                <a16:creationId xmlns:a16="http://schemas.microsoft.com/office/drawing/2014/main" id="{3DA0923F-16F7-02AE-C0BB-E90391FFB1A1}"/>
              </a:ext>
            </a:extLst>
          </p:cNvPr>
          <p:cNvPicPr>
            <a:picLocks noChangeAspect="1"/>
          </p:cNvPicPr>
          <p:nvPr/>
        </p:nvPicPr>
        <p:blipFill>
          <a:blip r:embed="rId5"/>
          <a:stretch>
            <a:fillRect/>
          </a:stretch>
        </p:blipFill>
        <p:spPr>
          <a:xfrm>
            <a:off x="431361" y="1795996"/>
            <a:ext cx="6737988" cy="4076403"/>
          </a:xfrm>
          <a:prstGeom prst="rect">
            <a:avLst/>
          </a:prstGeom>
        </p:spPr>
      </p:pic>
      <p:sp>
        <p:nvSpPr>
          <p:cNvPr id="16" name="Text 3">
            <a:extLst>
              <a:ext uri="{FF2B5EF4-FFF2-40B4-BE49-F238E27FC236}">
                <a16:creationId xmlns:a16="http://schemas.microsoft.com/office/drawing/2014/main" id="{F65A6CF2-1214-BEA0-5873-8140C2A56A5A}"/>
              </a:ext>
            </a:extLst>
          </p:cNvPr>
          <p:cNvSpPr/>
          <p:nvPr/>
        </p:nvSpPr>
        <p:spPr>
          <a:xfrm>
            <a:off x="1202572" y="6069924"/>
            <a:ext cx="3240405" cy="405051"/>
          </a:xfrm>
          <a:prstGeom prst="rect">
            <a:avLst/>
          </a:prstGeom>
          <a:noFill/>
          <a:ln/>
        </p:spPr>
        <p:txBody>
          <a:bodyPr wrap="none" lIns="0" tIns="0" rIns="0" bIns="0" rtlCol="0" anchor="t"/>
          <a:lstStyle/>
          <a:p>
            <a:r>
              <a:rPr lang="en-US" sz="2400" dirty="0"/>
              <a:t>User Type Trained and Tested Results</a:t>
            </a:r>
            <a:endParaRPr lang="en-IN" sz="2400" dirty="0"/>
          </a:p>
        </p:txBody>
      </p:sp>
    </p:spTree>
    <p:extLst>
      <p:ext uri="{BB962C8B-B14F-4D97-AF65-F5344CB8AC3E}">
        <p14:creationId xmlns:p14="http://schemas.microsoft.com/office/powerpoint/2010/main" val="699176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1665446"/>
            <a:ext cx="6480810" cy="809982"/>
          </a:xfrm>
          <a:prstGeom prst="rect">
            <a:avLst/>
          </a:prstGeom>
          <a:noFill/>
          <a:ln/>
        </p:spPr>
        <p:txBody>
          <a:bodyPr wrap="none" lIns="0" tIns="0" rIns="0" bIns="0" rtlCol="0" anchor="t"/>
          <a:lstStyle/>
          <a:p>
            <a:pPr marL="0" indent="0">
              <a:lnSpc>
                <a:spcPts val="6350"/>
              </a:lnSpc>
              <a:buNone/>
            </a:pPr>
            <a:endParaRPr lang="en-US" sz="5100" dirty="0"/>
          </a:p>
        </p:txBody>
      </p:sp>
      <p:sp>
        <p:nvSpPr>
          <p:cNvPr id="4" name="Text 1"/>
          <p:cNvSpPr/>
          <p:nvPr/>
        </p:nvSpPr>
        <p:spPr>
          <a:xfrm>
            <a:off x="592735" y="6341864"/>
            <a:ext cx="3240405" cy="405051"/>
          </a:xfrm>
          <a:prstGeom prst="rect">
            <a:avLst/>
          </a:prstGeom>
          <a:noFill/>
          <a:ln/>
        </p:spPr>
        <p:txBody>
          <a:bodyPr wrap="none" lIns="0" tIns="0" rIns="0" bIns="0" rtlCol="0" anchor="t"/>
          <a:lstStyle/>
          <a:p>
            <a:pPr marL="0" indent="0">
              <a:lnSpc>
                <a:spcPts val="3150"/>
              </a:lnSpc>
              <a:buNone/>
            </a:pPr>
            <a:endParaRPr lang="en-US" sz="2550" dirty="0"/>
          </a:p>
        </p:txBody>
      </p:sp>
      <p:sp>
        <p:nvSpPr>
          <p:cNvPr id="5" name="Text 2"/>
          <p:cNvSpPr/>
          <p:nvPr/>
        </p:nvSpPr>
        <p:spPr>
          <a:xfrm>
            <a:off x="864037" y="5674876"/>
            <a:ext cx="3898821" cy="395049"/>
          </a:xfrm>
          <a:prstGeom prst="rect">
            <a:avLst/>
          </a:prstGeom>
          <a:noFill/>
          <a:ln/>
        </p:spPr>
        <p:txBody>
          <a:bodyPr wrap="none" lIns="0" tIns="0" rIns="0" bIns="0" rtlCol="0" anchor="t"/>
          <a:lstStyle/>
          <a:p>
            <a:pPr marL="0" indent="0">
              <a:lnSpc>
                <a:spcPts val="3100"/>
              </a:lnSpc>
              <a:buNone/>
            </a:pPr>
            <a:endParaRPr lang="en-US" sz="1900" dirty="0"/>
          </a:p>
        </p:txBody>
      </p:sp>
      <p:sp>
        <p:nvSpPr>
          <p:cNvPr id="8" name="Text 4"/>
          <p:cNvSpPr/>
          <p:nvPr/>
        </p:nvSpPr>
        <p:spPr>
          <a:xfrm>
            <a:off x="5372695" y="5946815"/>
            <a:ext cx="3898821" cy="395049"/>
          </a:xfrm>
          <a:prstGeom prst="rect">
            <a:avLst/>
          </a:prstGeom>
          <a:noFill/>
          <a:ln/>
        </p:spPr>
        <p:txBody>
          <a:bodyPr wrap="none" lIns="0" tIns="0" rIns="0" bIns="0" rtlCol="0" anchor="t"/>
          <a:lstStyle/>
          <a:p>
            <a:pPr marL="0" indent="0">
              <a:lnSpc>
                <a:spcPts val="3100"/>
              </a:lnSpc>
              <a:buNone/>
            </a:pPr>
            <a:endParaRPr lang="en-US" sz="1900" dirty="0"/>
          </a:p>
        </p:txBody>
      </p:sp>
      <p:pic>
        <p:nvPicPr>
          <p:cNvPr id="13" name="Picture 12">
            <a:extLst>
              <a:ext uri="{FF2B5EF4-FFF2-40B4-BE49-F238E27FC236}">
                <a16:creationId xmlns:a16="http://schemas.microsoft.com/office/drawing/2014/main" id="{ECCD98BE-E39D-87AC-9B74-93B3CF85E1B6}"/>
              </a:ext>
            </a:extLst>
          </p:cNvPr>
          <p:cNvPicPr>
            <a:picLocks noChangeAspect="1"/>
          </p:cNvPicPr>
          <p:nvPr/>
        </p:nvPicPr>
        <p:blipFill>
          <a:blip r:embed="rId3"/>
          <a:stretch>
            <a:fillRect/>
          </a:stretch>
        </p:blipFill>
        <p:spPr>
          <a:xfrm>
            <a:off x="10468906" y="7604706"/>
            <a:ext cx="4069433" cy="624894"/>
          </a:xfrm>
          <a:prstGeom prst="rect">
            <a:avLst/>
          </a:prstGeom>
        </p:spPr>
      </p:pic>
      <p:sp>
        <p:nvSpPr>
          <p:cNvPr id="16" name="Text 3">
            <a:extLst>
              <a:ext uri="{FF2B5EF4-FFF2-40B4-BE49-F238E27FC236}">
                <a16:creationId xmlns:a16="http://schemas.microsoft.com/office/drawing/2014/main" id="{F65A6CF2-1214-BEA0-5873-8140C2A56A5A}"/>
              </a:ext>
            </a:extLst>
          </p:cNvPr>
          <p:cNvSpPr/>
          <p:nvPr/>
        </p:nvSpPr>
        <p:spPr>
          <a:xfrm>
            <a:off x="5217011" y="6615240"/>
            <a:ext cx="3240405" cy="405051"/>
          </a:xfrm>
          <a:prstGeom prst="rect">
            <a:avLst/>
          </a:prstGeom>
          <a:noFill/>
          <a:ln/>
        </p:spPr>
        <p:txBody>
          <a:bodyPr wrap="none" lIns="0" tIns="0" rIns="0" bIns="0" rtlCol="0" anchor="t"/>
          <a:lstStyle/>
          <a:p>
            <a:r>
              <a:rPr lang="en-US" sz="2400" dirty="0"/>
              <a:t>Prediction of Malicious Users</a:t>
            </a:r>
            <a:endParaRPr lang="en-IN" sz="2400" dirty="0"/>
          </a:p>
        </p:txBody>
      </p:sp>
      <p:pic>
        <p:nvPicPr>
          <p:cNvPr id="6" name="Picture 5">
            <a:extLst>
              <a:ext uri="{FF2B5EF4-FFF2-40B4-BE49-F238E27FC236}">
                <a16:creationId xmlns:a16="http://schemas.microsoft.com/office/drawing/2014/main" id="{34F63870-DE5F-0CF0-B158-09003868FD28}"/>
              </a:ext>
            </a:extLst>
          </p:cNvPr>
          <p:cNvPicPr>
            <a:picLocks noChangeAspect="1"/>
          </p:cNvPicPr>
          <p:nvPr/>
        </p:nvPicPr>
        <p:blipFill>
          <a:blip r:embed="rId4"/>
          <a:stretch>
            <a:fillRect/>
          </a:stretch>
        </p:blipFill>
        <p:spPr>
          <a:xfrm>
            <a:off x="1429431" y="987019"/>
            <a:ext cx="11771538" cy="5354845"/>
          </a:xfrm>
          <a:prstGeom prst="rect">
            <a:avLst/>
          </a:prstGeom>
        </p:spPr>
      </p:pic>
    </p:spTree>
    <p:extLst>
      <p:ext uri="{BB962C8B-B14F-4D97-AF65-F5344CB8AC3E}">
        <p14:creationId xmlns:p14="http://schemas.microsoft.com/office/powerpoint/2010/main" val="883041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8072" y="1847136"/>
            <a:ext cx="6279475" cy="4535091"/>
          </a:xfrm>
          <a:prstGeom prst="rect">
            <a:avLst/>
          </a:prstGeom>
        </p:spPr>
      </p:pic>
      <p:sp>
        <p:nvSpPr>
          <p:cNvPr id="3" name="Text 0"/>
          <p:cNvSpPr/>
          <p:nvPr/>
        </p:nvSpPr>
        <p:spPr>
          <a:xfrm>
            <a:off x="7590473" y="1251109"/>
            <a:ext cx="6279475" cy="576024"/>
          </a:xfrm>
          <a:prstGeom prst="rect">
            <a:avLst/>
          </a:prstGeom>
          <a:noFill/>
          <a:ln/>
        </p:spPr>
        <p:txBody>
          <a:bodyPr wrap="none" lIns="0" tIns="0" rIns="0" bIns="0" rtlCol="0" anchor="t"/>
          <a:lstStyle/>
          <a:p>
            <a:pPr marL="0" indent="0">
              <a:lnSpc>
                <a:spcPts val="4500"/>
              </a:lnSpc>
              <a:buNone/>
            </a:pPr>
            <a:r>
              <a:rPr lang="en-US" sz="3600" b="1" dirty="0">
                <a:solidFill>
                  <a:srgbClr val="000000"/>
                </a:solidFill>
                <a:latin typeface="Petrona" pitchFamily="34" charset="0"/>
                <a:ea typeface="Petrona" pitchFamily="34" charset="-122"/>
                <a:cs typeface="Petrona" pitchFamily="34" charset="-120"/>
              </a:rPr>
              <a:t>Conclusion and Future Scope </a:t>
            </a:r>
            <a:endParaRPr lang="en-US" sz="3600" dirty="0"/>
          </a:p>
        </p:txBody>
      </p:sp>
      <p:sp>
        <p:nvSpPr>
          <p:cNvPr id="4" name="Text 1"/>
          <p:cNvSpPr/>
          <p:nvPr/>
        </p:nvSpPr>
        <p:spPr>
          <a:xfrm>
            <a:off x="7590473" y="2046565"/>
            <a:ext cx="6279475" cy="1404938"/>
          </a:xfrm>
          <a:prstGeom prst="rect">
            <a:avLst/>
          </a:prstGeom>
          <a:noFill/>
          <a:ln/>
        </p:spPr>
        <p:txBody>
          <a:bodyPr wrap="square" lIns="0" tIns="0" rIns="0" bIns="0" rtlCol="0" anchor="t"/>
          <a:lstStyle/>
          <a:p>
            <a:pPr marL="0" indent="0">
              <a:lnSpc>
                <a:spcPts val="2200"/>
              </a:lnSpc>
              <a:buNone/>
            </a:pPr>
            <a:r>
              <a:rPr lang="en-US" sz="1350" dirty="0">
                <a:solidFill>
                  <a:srgbClr val="272525"/>
                </a:solidFill>
                <a:latin typeface="Inter" pitchFamily="34" charset="0"/>
                <a:ea typeface="Inter" pitchFamily="34" charset="-122"/>
                <a:cs typeface="Inter" pitchFamily="34" charset="-120"/>
              </a:rPr>
              <a:t>Malicious user detection using metric learning offers a robust and adaptable approach for enhancing security in various online platforms. By transforming user behavior patterns into a high-dimensional space where malicious users are distinguishable from benign ones, metric learning proves effective in identifying anomalies and unauthorized activities. </a:t>
            </a:r>
            <a:endParaRPr lang="en-US" sz="1350" dirty="0"/>
          </a:p>
        </p:txBody>
      </p:sp>
      <p:sp>
        <p:nvSpPr>
          <p:cNvPr id="5" name="Text 2"/>
          <p:cNvSpPr/>
          <p:nvPr/>
        </p:nvSpPr>
        <p:spPr>
          <a:xfrm>
            <a:off x="7590473" y="3648908"/>
            <a:ext cx="6279475" cy="561975"/>
          </a:xfrm>
          <a:prstGeom prst="rect">
            <a:avLst/>
          </a:prstGeom>
          <a:noFill/>
          <a:ln/>
        </p:spPr>
        <p:txBody>
          <a:bodyPr wrap="square" lIns="0" tIns="0" rIns="0" bIns="0" rtlCol="0" anchor="t"/>
          <a:lstStyle/>
          <a:p>
            <a:pPr marL="0" indent="0">
              <a:lnSpc>
                <a:spcPts val="2200"/>
              </a:lnSpc>
              <a:buNone/>
            </a:pPr>
            <a:r>
              <a:rPr lang="en-US" sz="1350" dirty="0">
                <a:solidFill>
                  <a:srgbClr val="272525"/>
                </a:solidFill>
                <a:latin typeface="Inter" pitchFamily="34" charset="0"/>
                <a:ea typeface="Inter" pitchFamily="34" charset="-122"/>
                <a:cs typeface="Inter" pitchFamily="34" charset="-120"/>
              </a:rPr>
              <a:t>The future of malicious user detection using metric learning can focus on several key improvements:</a:t>
            </a:r>
            <a:endParaRPr lang="en-US" sz="1350" dirty="0"/>
          </a:p>
        </p:txBody>
      </p:sp>
      <p:sp>
        <p:nvSpPr>
          <p:cNvPr id="6" name="Text 3"/>
          <p:cNvSpPr/>
          <p:nvPr/>
        </p:nvSpPr>
        <p:spPr>
          <a:xfrm>
            <a:off x="7871222" y="4408289"/>
            <a:ext cx="5998726" cy="280988"/>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272525"/>
                </a:solidFill>
                <a:latin typeface="Inter" pitchFamily="34" charset="0"/>
                <a:ea typeface="Inter" pitchFamily="34" charset="-122"/>
                <a:cs typeface="Inter" pitchFamily="34" charset="-120"/>
              </a:rPr>
              <a:t>Improved Accuracy</a:t>
            </a:r>
            <a:endParaRPr lang="en-US" sz="1350" dirty="0"/>
          </a:p>
        </p:txBody>
      </p:sp>
      <p:sp>
        <p:nvSpPr>
          <p:cNvPr id="7" name="Text 4"/>
          <p:cNvSpPr/>
          <p:nvPr/>
        </p:nvSpPr>
        <p:spPr>
          <a:xfrm>
            <a:off x="7871222" y="4766072"/>
            <a:ext cx="5998726" cy="280988"/>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272525"/>
                </a:solidFill>
                <a:latin typeface="Inter" pitchFamily="34" charset="0"/>
                <a:ea typeface="Inter" pitchFamily="34" charset="-122"/>
                <a:cs typeface="Inter" pitchFamily="34" charset="-120"/>
              </a:rPr>
              <a:t>Faster Detection</a:t>
            </a:r>
            <a:endParaRPr lang="en-US" sz="1350" dirty="0"/>
          </a:p>
        </p:txBody>
      </p:sp>
      <p:sp>
        <p:nvSpPr>
          <p:cNvPr id="8" name="Text 5"/>
          <p:cNvSpPr/>
          <p:nvPr/>
        </p:nvSpPr>
        <p:spPr>
          <a:xfrm>
            <a:off x="7871222" y="5123855"/>
            <a:ext cx="5998726" cy="280988"/>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272525"/>
                </a:solidFill>
                <a:latin typeface="Inter" pitchFamily="34" charset="0"/>
                <a:ea typeface="Inter" pitchFamily="34" charset="-122"/>
                <a:cs typeface="Inter" pitchFamily="34" charset="-120"/>
              </a:rPr>
              <a:t>Cross-Platform Use</a:t>
            </a:r>
            <a:endParaRPr lang="en-US" sz="1350" dirty="0"/>
          </a:p>
        </p:txBody>
      </p:sp>
      <p:sp>
        <p:nvSpPr>
          <p:cNvPr id="9" name="Text 6"/>
          <p:cNvSpPr/>
          <p:nvPr/>
        </p:nvSpPr>
        <p:spPr>
          <a:xfrm>
            <a:off x="7871222" y="5481638"/>
            <a:ext cx="5998726" cy="280988"/>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272525"/>
                </a:solidFill>
                <a:latin typeface="Inter" pitchFamily="34" charset="0"/>
                <a:ea typeface="Inter" pitchFamily="34" charset="-122"/>
                <a:cs typeface="Inter" pitchFamily="34" charset="-120"/>
              </a:rPr>
              <a:t>Better Robustness</a:t>
            </a:r>
            <a:endParaRPr lang="en-US" sz="1350" dirty="0"/>
          </a:p>
        </p:txBody>
      </p:sp>
      <p:sp>
        <p:nvSpPr>
          <p:cNvPr id="10" name="Text 7"/>
          <p:cNvSpPr/>
          <p:nvPr/>
        </p:nvSpPr>
        <p:spPr>
          <a:xfrm>
            <a:off x="7590473" y="5960031"/>
            <a:ext cx="6279475" cy="561975"/>
          </a:xfrm>
          <a:prstGeom prst="rect">
            <a:avLst/>
          </a:prstGeom>
          <a:noFill/>
          <a:ln/>
        </p:spPr>
        <p:txBody>
          <a:bodyPr wrap="square" lIns="0" tIns="0" rIns="0" bIns="0" rtlCol="0" anchor="t"/>
          <a:lstStyle/>
          <a:p>
            <a:pPr marL="0" indent="0">
              <a:lnSpc>
                <a:spcPts val="2200"/>
              </a:lnSpc>
              <a:buNone/>
            </a:pPr>
            <a:r>
              <a:rPr lang="en-US" sz="1350" dirty="0">
                <a:solidFill>
                  <a:srgbClr val="272525"/>
                </a:solidFill>
                <a:latin typeface="Inter" pitchFamily="34" charset="0"/>
                <a:ea typeface="Inter" pitchFamily="34" charset="-122"/>
                <a:cs typeface="Inter" pitchFamily="34" charset="-120"/>
              </a:rPr>
              <a:t>These enhancements will make detection systems more reliable and adaptable to evolving threats.</a:t>
            </a:r>
            <a:endParaRPr lang="en-US" sz="1350" dirty="0"/>
          </a:p>
        </p:txBody>
      </p:sp>
      <p:sp>
        <p:nvSpPr>
          <p:cNvPr id="11" name="Text 8"/>
          <p:cNvSpPr/>
          <p:nvPr/>
        </p:nvSpPr>
        <p:spPr>
          <a:xfrm>
            <a:off x="7590473" y="6719411"/>
            <a:ext cx="6279475" cy="280988"/>
          </a:xfrm>
          <a:prstGeom prst="rect">
            <a:avLst/>
          </a:prstGeom>
          <a:noFill/>
          <a:ln/>
        </p:spPr>
        <p:txBody>
          <a:bodyPr wrap="none" lIns="0" tIns="0" rIns="0" bIns="0" rtlCol="0" anchor="t"/>
          <a:lstStyle/>
          <a:p>
            <a:pPr marL="0" indent="0">
              <a:lnSpc>
                <a:spcPts val="2200"/>
              </a:lnSpc>
              <a:buNone/>
            </a:pPr>
            <a:endParaRPr lang="en-US" sz="1350" dirty="0"/>
          </a:p>
        </p:txBody>
      </p:sp>
      <p:sp>
        <p:nvSpPr>
          <p:cNvPr id="12" name="Arrow: Right 11">
            <a:extLst>
              <a:ext uri="{FF2B5EF4-FFF2-40B4-BE49-F238E27FC236}">
                <a16:creationId xmlns:a16="http://schemas.microsoft.com/office/drawing/2014/main" id="{B79EEAD8-41A1-3C92-8835-DE10B1C0A12E}"/>
              </a:ext>
            </a:extLst>
          </p:cNvPr>
          <p:cNvSpPr/>
          <p:nvPr/>
        </p:nvSpPr>
        <p:spPr>
          <a:xfrm>
            <a:off x="12645483" y="7638586"/>
            <a:ext cx="1984917" cy="5910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05DA89D9-E44D-A54B-D8F7-603FB4B3297A}"/>
              </a:ext>
            </a:extLst>
          </p:cNvPr>
          <p:cNvPicPr>
            <a:picLocks noChangeAspect="1"/>
          </p:cNvPicPr>
          <p:nvPr/>
        </p:nvPicPr>
        <p:blipFill>
          <a:blip r:embed="rId4"/>
          <a:stretch>
            <a:fillRect/>
          </a:stretch>
        </p:blipFill>
        <p:spPr>
          <a:xfrm>
            <a:off x="10560967" y="7604706"/>
            <a:ext cx="4069433" cy="6248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4037" y="1116687"/>
            <a:ext cx="12902327" cy="2430304"/>
          </a:xfrm>
          <a:prstGeom prst="rect">
            <a:avLst/>
          </a:prstGeom>
          <a:noFill/>
          <a:ln/>
        </p:spPr>
        <p:txBody>
          <a:bodyPr wrap="none" lIns="0" tIns="0" rIns="0" bIns="0" rtlCol="0" anchor="t"/>
          <a:lstStyle/>
          <a:p>
            <a:pPr marL="0" indent="0">
              <a:lnSpc>
                <a:spcPts val="19100"/>
              </a:lnSpc>
              <a:buNone/>
            </a:pPr>
            <a:r>
              <a:rPr lang="en-US" sz="15300" b="1" dirty="0">
                <a:solidFill>
                  <a:srgbClr val="000000"/>
                </a:solidFill>
                <a:latin typeface="Petrona" pitchFamily="34" charset="0"/>
                <a:ea typeface="Petrona" pitchFamily="34" charset="-122"/>
                <a:cs typeface="Petrona" pitchFamily="34" charset="-120"/>
              </a:rPr>
              <a:t>  </a:t>
            </a:r>
            <a:endParaRPr lang="en-US" sz="15300" dirty="0"/>
          </a:p>
        </p:txBody>
      </p:sp>
      <p:sp>
        <p:nvSpPr>
          <p:cNvPr id="3" name="Text 1"/>
          <p:cNvSpPr/>
          <p:nvPr/>
        </p:nvSpPr>
        <p:spPr>
          <a:xfrm>
            <a:off x="864036" y="2899648"/>
            <a:ext cx="12902327" cy="2430304"/>
          </a:xfrm>
          <a:prstGeom prst="rect">
            <a:avLst/>
          </a:prstGeom>
          <a:noFill/>
          <a:ln/>
        </p:spPr>
        <p:txBody>
          <a:bodyPr wrap="none" lIns="0" tIns="0" rIns="0" bIns="0" rtlCol="0" anchor="t"/>
          <a:lstStyle/>
          <a:p>
            <a:pPr marL="0" indent="0">
              <a:lnSpc>
                <a:spcPts val="19100"/>
              </a:lnSpc>
              <a:buNone/>
            </a:pPr>
            <a:r>
              <a:rPr lang="en-US" sz="15300" b="1" dirty="0">
                <a:solidFill>
                  <a:srgbClr val="000000"/>
                </a:solidFill>
                <a:latin typeface="Petrona" pitchFamily="34" charset="0"/>
                <a:ea typeface="Petrona" pitchFamily="34" charset="-122"/>
                <a:cs typeface="Petrona" pitchFamily="34" charset="-120"/>
              </a:rPr>
              <a:t>   Thank You!</a:t>
            </a:r>
            <a:endParaRPr lang="en-US" sz="15300" dirty="0"/>
          </a:p>
        </p:txBody>
      </p:sp>
      <p:sp>
        <p:nvSpPr>
          <p:cNvPr id="4" name="Text 2"/>
          <p:cNvSpPr/>
          <p:nvPr/>
        </p:nvSpPr>
        <p:spPr>
          <a:xfrm>
            <a:off x="864037" y="6717863"/>
            <a:ext cx="12902327" cy="395049"/>
          </a:xfrm>
          <a:prstGeom prst="rect">
            <a:avLst/>
          </a:prstGeom>
          <a:noFill/>
          <a:ln/>
        </p:spPr>
        <p:txBody>
          <a:bodyPr wrap="none" lIns="0" tIns="0" rIns="0" bIns="0" rtlCol="0" anchor="t"/>
          <a:lstStyle/>
          <a:p>
            <a:pPr marL="0" indent="0">
              <a:lnSpc>
                <a:spcPts val="3100"/>
              </a:lnSpc>
              <a:buNone/>
            </a:pPr>
            <a:endParaRPr lang="en-US" sz="1900" dirty="0"/>
          </a:p>
        </p:txBody>
      </p:sp>
      <p:sp>
        <p:nvSpPr>
          <p:cNvPr id="5" name="Arrow: Right 4">
            <a:extLst>
              <a:ext uri="{FF2B5EF4-FFF2-40B4-BE49-F238E27FC236}">
                <a16:creationId xmlns:a16="http://schemas.microsoft.com/office/drawing/2014/main" id="{D4D74D1E-BB08-58E4-1AFF-7FCAD2370321}"/>
              </a:ext>
            </a:extLst>
          </p:cNvPr>
          <p:cNvSpPr/>
          <p:nvPr/>
        </p:nvSpPr>
        <p:spPr>
          <a:xfrm>
            <a:off x="12645483" y="7638586"/>
            <a:ext cx="1984917" cy="5910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DEE268BA-F971-4306-A2E3-DCC8A5EC09DC}"/>
              </a:ext>
            </a:extLst>
          </p:cNvPr>
          <p:cNvPicPr>
            <a:picLocks noChangeAspect="1"/>
          </p:cNvPicPr>
          <p:nvPr/>
        </p:nvPicPr>
        <p:blipFill>
          <a:blip r:embed="rId3"/>
          <a:stretch>
            <a:fillRect/>
          </a:stretch>
        </p:blipFill>
        <p:spPr>
          <a:xfrm>
            <a:off x="10560967" y="7604706"/>
            <a:ext cx="4069433" cy="6248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1192</Words>
  <Application>Microsoft Office PowerPoint</Application>
  <PresentationFormat>Custom</PresentationFormat>
  <Paragraphs>111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Petrona</vt:lpstr>
      <vt:lpstr>Times New Roman</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D.Thanoj Sriman</cp:lastModifiedBy>
  <cp:revision>6</cp:revision>
  <dcterms:created xsi:type="dcterms:W3CDTF">2024-09-12T15:12:15Z</dcterms:created>
  <dcterms:modified xsi:type="dcterms:W3CDTF">2024-09-13T01:18:12Z</dcterms:modified>
</cp:coreProperties>
</file>